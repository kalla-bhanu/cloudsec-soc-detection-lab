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d809b8572d41c6" /><Relationship Type="http://schemas.openxmlformats.org/officeDocument/2006/relationships/extended-properties" Target="/docProps/app.xml" Id="R40c15486ed484dfa" /><Relationship Type="http://schemas.openxmlformats.org/officeDocument/2006/relationships/officeDocument" Target="/ppt/presentation.xml" Id="R4d5c2f20c8fc4b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aa28830b64465c"/>
  </p:sldMasterIdLst>
  <p:notesMasterIdLst>
    <p:notesMasterId xmlns:r="http://schemas.openxmlformats.org/officeDocument/2006/relationships" r:id="Rfc55ec4732254393"/>
  </p:notesMasterIdLst>
  <p:sldIdLst>
    <p:sldId xmlns:r="http://schemas.openxmlformats.org/officeDocument/2006/relationships" id="256" r:id="R543041d3dde54c09"/>
    <p:sldId xmlns:r="http://schemas.openxmlformats.org/officeDocument/2006/relationships" id="257" r:id="R163c23bc5e11472e"/>
    <p:sldId xmlns:r="http://schemas.openxmlformats.org/officeDocument/2006/relationships" id="258" r:id="R88ae80dbae4542f4"/>
    <p:sldId xmlns:r="http://schemas.openxmlformats.org/officeDocument/2006/relationships" id="259" r:id="R1a603b0fa232431c"/>
    <p:sldId xmlns:r="http://schemas.openxmlformats.org/officeDocument/2006/relationships" id="260" r:id="Rfce685047ecd478f"/>
    <p:sldId xmlns:r="http://schemas.openxmlformats.org/officeDocument/2006/relationships" id="261" r:id="R36aa2ab937fb4e87"/>
    <p:sldId xmlns:r="http://schemas.openxmlformats.org/officeDocument/2006/relationships" id="262" r:id="R87b62f8bf7f449d4"/>
    <p:sldId xmlns:r="http://schemas.openxmlformats.org/officeDocument/2006/relationships" id="263" r:id="R07e9c390e3204286"/>
    <p:sldId xmlns:r="http://schemas.openxmlformats.org/officeDocument/2006/relationships" id="264" r:id="R6ccfb21201ba4f69"/>
    <p:sldId xmlns:r="http://schemas.openxmlformats.org/officeDocument/2006/relationships" id="265" r:id="R5ad968f9c2bb4c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a28830b64465c" /><Relationship Type="http://schemas.openxmlformats.org/officeDocument/2006/relationships/theme" Target="/ppt/theme/theme1.xml" Id="Re2c534e3bbb54c38" /><Relationship Type="http://schemas.openxmlformats.org/officeDocument/2006/relationships/notesMaster" Target="/ppt/notesMasters/notesMaster1.xml" Id="Rfc55ec4732254393" /><Relationship Type="http://schemas.openxmlformats.org/officeDocument/2006/relationships/presProps" Target="/ppt/presProps.xml" Id="Ra8c3ff92aa774a24" /><Relationship Type="http://schemas.openxmlformats.org/officeDocument/2006/relationships/viewProps" Target="/ppt/viewProps.xml" Id="Re2348bc6f31440e5" /><Relationship Type="http://schemas.openxmlformats.org/officeDocument/2006/relationships/tableStyles" Target="/ppt/tableStyles.xml" Id="R4e4776896fb749df" /><Relationship Type="http://schemas.openxmlformats.org/officeDocument/2006/relationships/slide" Target="/ppt/slides/slide1.xml" Id="R543041d3dde54c09" /><Relationship Type="http://schemas.openxmlformats.org/officeDocument/2006/relationships/slide" Target="/ppt/slides/slide2.xml" Id="R163c23bc5e11472e" /><Relationship Type="http://schemas.openxmlformats.org/officeDocument/2006/relationships/slide" Target="/ppt/slides/slide3.xml" Id="R88ae80dbae4542f4" /><Relationship Type="http://schemas.openxmlformats.org/officeDocument/2006/relationships/slide" Target="/ppt/slides/slide4.xml" Id="R1a603b0fa232431c" /><Relationship Type="http://schemas.openxmlformats.org/officeDocument/2006/relationships/slide" Target="/ppt/slides/slide5.xml" Id="Rfce685047ecd478f" /><Relationship Type="http://schemas.openxmlformats.org/officeDocument/2006/relationships/slide" Target="/ppt/slides/slide6.xml" Id="R36aa2ab937fb4e87" /><Relationship Type="http://schemas.openxmlformats.org/officeDocument/2006/relationships/slide" Target="/ppt/slides/slide7.xml" Id="R87b62f8bf7f449d4" /><Relationship Type="http://schemas.openxmlformats.org/officeDocument/2006/relationships/slide" Target="/ppt/slides/slide8.xml" Id="R07e9c390e3204286" /><Relationship Type="http://schemas.openxmlformats.org/officeDocument/2006/relationships/slide" Target="/ppt/slides/slide9.xml" Id="R6ccfb21201ba4f69" /><Relationship Type="http://schemas.openxmlformats.org/officeDocument/2006/relationships/slide" Target="/ppt/slides/slide10.xml" Id="R5ad968f9c2bb4c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8cc01d7010246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9a6d86a76540d4" /><Relationship Type="http://schemas.openxmlformats.org/officeDocument/2006/relationships/notesMaster" Target="/ppt/notesMasters/notesMaster1.xml" Id="R326bafd07f3d4a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c0304c5dbe4a8c" /><Relationship Type="http://schemas.openxmlformats.org/officeDocument/2006/relationships/notesMaster" Target="/ppt/notesMasters/notesMaster1.xml" Id="Ra6b5565a909242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3a9d89af804d04" /><Relationship Type="http://schemas.openxmlformats.org/officeDocument/2006/relationships/notesMaster" Target="/ppt/notesMasters/notesMaster1.xml" Id="R54a97f6cc873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1ed88585af446b" /><Relationship Type="http://schemas.openxmlformats.org/officeDocument/2006/relationships/notesMaster" Target="/ppt/notesMasters/notesMaster1.xml" Id="Rbcf141ce2fa841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edce5a571f4f12" /><Relationship Type="http://schemas.openxmlformats.org/officeDocument/2006/relationships/notesMaster" Target="/ppt/notesMasters/notesMaster1.xml" Id="R787cd9a46c144e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0c78ed345f4498" /><Relationship Type="http://schemas.openxmlformats.org/officeDocument/2006/relationships/notesMaster" Target="/ppt/notesMasters/notesMaster1.xml" Id="R9780cec01c954c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d8149d73b041d8" /><Relationship Type="http://schemas.openxmlformats.org/officeDocument/2006/relationships/notesMaster" Target="/ppt/notesMasters/notesMaster1.xml" Id="Rcb80431983104b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0bd09fcd6f4932" /><Relationship Type="http://schemas.openxmlformats.org/officeDocument/2006/relationships/notesMaster" Target="/ppt/notesMasters/notesMaster1.xml" Id="Rdf83c46600aa44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88cd13cf574b99" /><Relationship Type="http://schemas.openxmlformats.org/officeDocument/2006/relationships/notesMaster" Target="/ppt/notesMasters/notesMaster1.xml" Id="R8b46a0f383074a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779ba17209434a" /><Relationship Type="http://schemas.openxmlformats.org/officeDocument/2006/relationships/notesMaster" Target="/ppt/notesMasters/notesMaster1.xml" Id="R6373afb254934c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stating the boundary: this is a sanitized portfolio lab that demonstrates detection-engineering flow, not a production coverage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evidence-templates/asset-manifest.md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the repo is a complete working model, not a collection of unrelated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docs/architecture-and-flowcharts.md</a:t>
            </a:r>
          </a:p>
          <a:p xmlns:a="http://schemas.openxmlformats.org/drawingml/2006/main">
            <a:r>
              <a:t>- harness/lambda_function.py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completeness: the value is the mapped detection workflow, not a claim that every vendor feed is live.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data/*.csv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integrity point: sanitized does not mean vague. The proof chain is still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evidence-templates/asset-manifest.md</a:t>
            </a:r>
          </a:p>
          <a:p xmlns:a="http://schemas.openxmlformats.org/drawingml/2006/main">
            <a:r>
              <a:t>- docs/queries/cli-query-examples.md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reusable detection-engineering model across all five 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docs/architecture-and-flowcharts.md</a:t>
            </a:r>
          </a:p>
          <a:p xmlns:a="http://schemas.openxmlformats.org/drawingml/2006/main">
            <a:r>
              <a:t>- dashboard/dashboard-data.js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cloud alerts to business impact without using any private resource names.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docs/queries/cli-query-examples.md</a:t>
            </a:r>
          </a:p>
          <a:p xmlns:a="http://schemas.openxmlformats.org/drawingml/2006/main">
            <a:r>
              <a:t>- evidence-templates/asset-manifest.md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slide that explains why runtime telemetry matters to cloud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docs/queries/cli-query-examples.md</a:t>
            </a:r>
          </a:p>
          <a:p xmlns:a="http://schemas.openxmlformats.org/drawingml/2006/main">
            <a:r>
              <a:t>- evidence-templates/asset-manifest.md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boundary honest: endpoint and database views are public-safe supporting/context panels.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docs/queries/cli-query-examples.md</a:t>
            </a:r>
          </a:p>
          <a:p xmlns:a="http://schemas.openxmlformats.org/drawingml/2006/main">
            <a:r>
              <a:t>- evidence-templates/asset-manifest.md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how to run the demo without hoping live random activity 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harness/lambda_function.py</a:t>
            </a:r>
          </a:p>
          <a:p xmlns:a="http://schemas.openxmlformats.org/drawingml/2006/main">
            <a:r>
              <a:t>- docs/demo-walkthrough.md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inviting a review of the dashboard and scenario proof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docs/demo-walkthrough.md</a:t>
            </a:r>
          </a:p>
          <a:p xmlns:a="http://schemas.openxmlformats.org/drawingml/2006/main">
            <a:r>
              <a:t>- evidence-templates/asset-manifest.md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f6f6d19a24c7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68e7f520d74909" /><Relationship Type="http://schemas.openxmlformats.org/officeDocument/2006/relationships/slideLayout" Target="/ppt/slideLayouts/slideLayout2.xml" Id="R73dc1b71d18a49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c1b71d18a49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7b84f6bcb54e05" /><Relationship Type="http://schemas.openxmlformats.org/officeDocument/2006/relationships/image" Target="/ppt/media/image.png" Id="Reb09c2cf281a49fb" /><Relationship Type="http://schemas.openxmlformats.org/officeDocument/2006/relationships/notesSlide" Target="/ppt/notesSlides/notesSlide1.xml" Id="Re5f708b9cd004a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3763c368234109" /><Relationship Type="http://schemas.openxmlformats.org/officeDocument/2006/relationships/image" Target="/ppt/media/image2.png" Id="R55e9cd3f0a5e4985" /><Relationship Type="http://schemas.openxmlformats.org/officeDocument/2006/relationships/notesSlide" Target="/ppt/notesSlides/notesSlide2.xml" Id="Rd4e642aaccd447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0b99b360e1442f" /><Relationship Type="http://schemas.openxmlformats.org/officeDocument/2006/relationships/image" Target="/ppt/media/image3.png" Id="R16d29e2cc6a04c9f" /><Relationship Type="http://schemas.openxmlformats.org/officeDocument/2006/relationships/notesSlide" Target="/ppt/notesSlides/notesSlide3.xml" Id="R7eadcd86dcff49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985e9435154121" /><Relationship Type="http://schemas.openxmlformats.org/officeDocument/2006/relationships/image" Target="/ppt/media/image4.png" Id="R7deb4b7b47894588" /><Relationship Type="http://schemas.openxmlformats.org/officeDocument/2006/relationships/notesSlide" Target="/ppt/notesSlides/notesSlide4.xml" Id="R27c9b1d9bbf344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5a635863464e3e" /><Relationship Type="http://schemas.openxmlformats.org/officeDocument/2006/relationships/image" Target="/ppt/media/image5.png" Id="Rada15f9ce3144cbc" /><Relationship Type="http://schemas.openxmlformats.org/officeDocument/2006/relationships/notesSlide" Target="/ppt/notesSlides/notesSlide5.xml" Id="R589593a1eaed49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8e2ff8df384f8a" /><Relationship Type="http://schemas.openxmlformats.org/officeDocument/2006/relationships/image" Target="/ppt/media/image6.png" Id="R8292d6ae81e64919" /><Relationship Type="http://schemas.openxmlformats.org/officeDocument/2006/relationships/notesSlide" Target="/ppt/notesSlides/notesSlide6.xml" Id="R473137bae0a0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fd5668118c4a9a" /><Relationship Type="http://schemas.openxmlformats.org/officeDocument/2006/relationships/image" Target="/ppt/media/image7.png" Id="R1b332860fef8423d" /><Relationship Type="http://schemas.openxmlformats.org/officeDocument/2006/relationships/notesSlide" Target="/ppt/notesSlides/notesSlide7.xml" Id="Re578091fe01443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49b949e8684dc0" /><Relationship Type="http://schemas.openxmlformats.org/officeDocument/2006/relationships/image" Target="/ppt/media/image8.png" Id="R9ebdc2d008c84227" /><Relationship Type="http://schemas.openxmlformats.org/officeDocument/2006/relationships/notesSlide" Target="/ppt/notesSlides/notesSlide8.xml" Id="R8656e6c45beb46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d73f80d13f483b" /><Relationship Type="http://schemas.openxmlformats.org/officeDocument/2006/relationships/image" Target="/ppt/media/image9.png" Id="R3c60c1f2cf6e46d4" /><Relationship Type="http://schemas.openxmlformats.org/officeDocument/2006/relationships/notesSlide" Target="/ppt/notesSlides/notesSlide9.xml" Id="Rdb1171d1d85d49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e2c53436ae479a" /><Relationship Type="http://schemas.openxmlformats.org/officeDocument/2006/relationships/image" Target="/ppt/media/image10.png" Id="R4fdba7b880c849d8" /><Relationship Type="http://schemas.openxmlformats.org/officeDocument/2006/relationships/notesSlide" Target="/ppt/notesSlides/notesSlide10.xml" Id="Rb03d96a689c645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5EF02-9D69-4ADE-A613-D2D39FE6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91CAF-0924-478D-9A35-FC7170D0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5F404-EDD0-4704-B066-9CEA0DF3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457DC-1CB6-45FD-9A82-4EFBF481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D12ED-0579-4ADB-9E06-55804FFC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PUBLIC-SAFE SOC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FB819-0F67-4626-966B-E07D87C8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02E"/>
                </a:solidFill>
              </a:defRPr>
            </a:pPr>
            <a:r>
              <a:rPr sz="3600" b="1">
                <a:solidFill>
                  <a:srgbClr val="14202E"/>
                </a:solidFill>
              </a:rPr>
              <a:t>CloudSec SOC Detection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5A6B1-717D-42D5-B441-A1E648C2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 complete detection-engineering package with dashboard, synthetic datasets, replay harness, evidence visuals, flowcharts, and demo runbook.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1B053-3393-464E-8CDC-E985CAF3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971550"/>
            <a:ext cx="41529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9c2cf281a49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47750"/>
            <a:ext cx="400050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7C4F5-BFC1-4A98-A3DF-D183B1A8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Architecture coverage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5CD84-3DF0-4D25-8DD7-4F25E1AB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16CD2-E29C-4129-8ECB-D762A9A1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2E"/>
                </a:solidFill>
              </a:defRPr>
            </a:pPr>
            <a:r>
              <a:rPr sz="1725" b="1">
                <a:solidFill>
                  <a:srgbClr val="14202E"/>
                </a:solidFill>
              </a:rPr>
              <a:t>Five scenarios, one evidence-led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030BA-BE7D-4060-9FE5-D54BD1A8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Public-safe lab package: synthetic datasets, sanitized evidence visuals, and no private tenant details.</a:t>
            </a:r>
          </a:p>
        </p:txBody>
      </p:sp>
    </p:spTree>
    <p:extLst>
      <p:ext uri="{BB962C8B-B14F-4D97-AF65-F5344CB8AC3E}">
        <p14:creationId xmlns:p14="http://schemas.microsoft.com/office/powerpoint/2010/main" val="221533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99BFFC-EE33-4385-A39F-C395D2E6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38FF5-1DEC-4470-A617-DFBD4F7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9462B-91CA-4ACC-870A-1C421B84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8F7A2-4B08-41EB-9E98-5F9F2BCD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1EBE2-003C-425F-8607-72560B55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833A5-BB74-4B67-AD94-3BBBB0CA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73CCF-4E5E-40C6-AA17-AD443BE7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19050">
            <a:solidFill>
              <a:srgbClr val="14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6F621-93C5-4C7E-90DC-876F4A0F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19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2E"/>
                </a:solidFill>
              </a:defRPr>
            </a:pPr>
            <a:r>
              <a:rPr sz="3000" b="1">
                <a:solidFill>
                  <a:srgbClr val="14202E"/>
                </a:solidFill>
              </a:rPr>
              <a:t>The Lab Moves From Scenario Data To Analyst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9EF7B-EDE1-447F-9CDF-0124FBD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working model is intentionally layered: scenario rows, controlled replay, log visibility, monitor logic, evidence, and response.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70F23-A0EA-4543-BFBC-2F72E3BE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76300"/>
            <a:ext cx="34861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9cd3f0a5e4985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52500"/>
            <a:ext cx="3333750" cy="2095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D51BB-8E2D-4C31-A762-55DE02A4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66B96-E2AF-43C2-880B-BD3A795F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3AE80-7F41-48E0-8AE6-4A7E1968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Scenario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A7B76-312F-4CA6-A93E-763908AC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C3CFF-DC74-4ED5-B236-94E9B84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216BB-618F-41C1-B909-7D7C6B66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6DAA4-9E2C-457A-8C9B-53B5C00A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B05FF-273F-4E47-8DB1-5AC115D7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9A4AC-0959-4469-BBD7-31AD604D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Logs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84A5A-DD27-4C73-924C-F8D97969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FA777-6730-4BBA-B600-E7707968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4B138-E8C8-4962-8932-73456E99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Monitor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0F91E-68BE-4529-B0D0-4D1A8F81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75340-34F2-4A53-AD6E-211A0957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BCF78-ACFD-4CF1-86E9-BF513345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Triage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E65061-7588-4737-BBA2-6BD2A5C7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DE787-CD37-42B8-B1AE-16D6276C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DF43F5-D50D-4113-BD49-FCA7A480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F4A273-0572-40A4-A4EE-3C3B178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137FFE-DBC9-4A41-8EA8-987A703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8101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1B5000-6CB3-46D4-B179-182B8278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A6E559-C4AE-4F33-B276-B94BBF75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Signal generation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5AB292-2CF8-4E3A-856F-C4388F8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Synthetic scenario rows model identity,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cloud, runtime, endpoint, and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data-access behavior without private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data.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31E44B-30A4-4BDD-8AC6-917A36AA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8980F9-E73A-4DDF-9AA8-9F7773A4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1897FE-0FA1-4E40-9A9A-F3D16ABD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3F182A-816F-4356-B438-E4CA62A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D49747-6EFA-4AFD-84A1-4DB1DA06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7AC472-BEBA-4143-9709-C11C3F05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8482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9E8122-719A-4683-8761-D29685C2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Detection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B7F964-F98C-47F7-A557-F4F738E3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Lambda replay sends controlled events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to Datadog-style logs using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source:test-harness and synthetic:true.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DBCC7D-AC27-4723-A4C9-341C82BD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DE7A09-C5B0-4D36-AB3E-39F7CD9C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EA8145-8FEC-4B02-AB5E-A548C34C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D62F42-7868-4CFC-9439-657C117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7529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01B22C-A923-4F7A-9449-3DE80BEA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8387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1A7B8D-F3F9-483C-9EE5-0A42C7AE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9244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3D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2F53B3-6DAA-4622-853C-87130283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Analyst output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1B7309-DBAA-467F-9395-64CCC709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The dashboard maps proof, query pivots,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response decisions, and demo order into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one review path.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9D269D-F937-4AEE-B9C7-9ED50BC9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Public-safe lab package: synthetic datasets, sanitized evidence visuals, and no private tenant details.</a:t>
            </a:r>
          </a:p>
        </p:txBody>
      </p:sp>
    </p:spTree>
    <p:extLst>
      <p:ext uri="{BB962C8B-B14F-4D97-AF65-F5344CB8AC3E}">
        <p14:creationId xmlns:p14="http://schemas.microsoft.com/office/powerpoint/2010/main" val="326571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171B87-E76C-40CE-9DAF-157D4744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74AC8-0D0F-483A-BB7D-17C2230F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A8A4A-4131-4A8E-883F-0BE14E9F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F20BC-2F1E-49B2-8FC1-DCD14449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DC396-CB09-41C9-ABE2-86B6C33C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BB064-DEC5-452C-A72A-84180B66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4B3A6-821D-49EC-9AAA-1F4A0C0B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19050">
            <a:solidFill>
              <a:srgbClr val="14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E1BEC-AFE6-407C-BB13-DFBD8D71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2E"/>
                </a:solidFill>
              </a:defRPr>
            </a:pPr>
            <a:r>
              <a:rPr sz="3000" b="1">
                <a:solidFill>
                  <a:srgbClr val="14202E"/>
                </a:solidFill>
              </a:rPr>
              <a:t>Five Scenarios Cover The Core SOC Review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31CBE-8864-4269-9FE0-CF1E696F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Every scenario has a trigger, correlation path, proof anchor, query pivot, and response posture.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D8543-479B-438F-8A99-FCA7E946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76300"/>
            <a:ext cx="34861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29e2cc6a04c9f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52500"/>
            <a:ext cx="3333750" cy="2095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E7852-9107-479E-A1A7-256E1FDE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FBF96-413E-449E-9A09-1BF7D51B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DDF83-D245-4966-AFC3-0AC67D38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02E29-65EA-4C91-B359-ECE3477B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E"/>
                </a:solidFill>
              </a:defRPr>
            </a:pPr>
            <a:r>
              <a:rPr sz="2550" b="1">
                <a:solidFill>
                  <a:srgbClr val="14202E"/>
                </a:solidFill>
              </a:rPr>
              <a:t>5/5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8788D-0B4A-4625-9F00-99EE78B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Scenario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DE5A2-91CF-471B-8D50-5E1763ED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Identity, cloud, runtime, endpoint, and data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AFCFD-698C-4451-A993-49C93FF1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836A1-C6B5-4588-9A16-C7E1165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B08D9-7BD7-4E15-A53B-8DA741F0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E"/>
                </a:solidFill>
              </a:defRPr>
            </a:pPr>
            <a:r>
              <a:rPr sz="2550" b="1">
                <a:solidFill>
                  <a:srgbClr val="14202E"/>
                </a:solidFill>
              </a:rPr>
              <a:t>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598DD-A877-4485-ADE9-1B177D9D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Evidence visuals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FBE4F-DECD-42C4-940C-7452408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Repo-owned public-safe assets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44D89-2C3D-4978-B06F-06D40274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59ABF8-08F1-4942-AAC5-DDD91480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9472A-91FF-4BCD-9785-EE93828E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E"/>
                </a:solidFill>
              </a:defRPr>
            </a:pPr>
            <a:r>
              <a:rPr sz="2550" b="1">
                <a:solidFill>
                  <a:srgbClr val="14202E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8632A-EC38-427E-A0ED-EEF809E5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Synthetic datasets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8FE62-2BF6-47B1-A600-31916554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Alerts, identity, cloud, endpoint, assets, timeline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692791-FACB-4708-8843-7C618AD5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Public-safe lab package: synthetic datasets, sanitized evidence visuals, and no private tenant details.</a:t>
            </a:r>
          </a:p>
        </p:txBody>
      </p:sp>
    </p:spTree>
    <p:extLst>
      <p:ext uri="{BB962C8B-B14F-4D97-AF65-F5344CB8AC3E}">
        <p14:creationId xmlns:p14="http://schemas.microsoft.com/office/powerpoint/2010/main" val="1218019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9F6D05-7F53-4780-A45A-F1E66E5B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E0E1E-02EB-49DE-B90B-73D4668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2F32D-EFFD-430A-AF5A-6FCB3F71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24D5E-E65F-47EE-9409-68E5CCCB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EVIDENCE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71DE1-C2EE-4270-B00D-7945AC0A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9ABBC-EC86-414A-B8CB-DBFC5B8E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B726B-E296-4C67-8B84-C76AC62F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19050">
            <a:solidFill>
              <a:srgbClr val="14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B9DFC-2A41-49AC-9E91-38885289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19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2E"/>
                </a:solidFill>
              </a:defRPr>
            </a:pPr>
            <a:r>
              <a:rPr sz="3000" b="1">
                <a:solidFill>
                  <a:srgbClr val="14202E"/>
                </a:solidFill>
              </a:rPr>
              <a:t>Proof Is Public-Safe And Still Mapped To Operator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650FE-4636-44CB-83AF-939D1533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Private screenshots are replaced by generated evidence panels, but the investigation logic remains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5F917-E544-4E35-A08B-774CF2FC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76300"/>
            <a:ext cx="34861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b4b7b47894588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52500"/>
            <a:ext cx="3333750" cy="2095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05E9C-0DB6-4598-B752-4082F88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EVIDENCE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B748F-6119-4E03-8FA2-6FEB2E6A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D01A2-08C3-4FF7-A7A3-B4E1FAC0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Alert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90D12-B173-48C8-A41B-295838B1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DD0D6-ABA0-49A7-87C0-2951842C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D09C7-AC61-4FA5-999E-B7632C99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CC3B7-5A5B-4347-977C-B1A61F22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2D37C-DCED-41A7-9E8B-6D38BC1B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22A54-134B-47A8-8292-D104DD86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Query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BE054-7C18-41AA-8A17-35764822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B51BE-FDE6-44B8-B92E-97E676CA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28B1C-3DA4-4DAC-9E80-2892D27F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Blast radius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2B59F-AC50-4EED-A739-4EE1848C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F25EF-D438-4AA9-9989-D7697D2D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456CF-24A6-4BA6-88CD-D7DE0FBC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80714-E8ED-4248-9EF3-0B43E03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9A255D-409C-42B1-B007-C7274A3A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3F84D-48CA-4343-99E8-3C3A502C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0B2670-1164-40E6-BAE7-202E5E5C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92B76-89E1-4FE9-9597-E6D8572B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8101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8468B5-BFC3-496B-8BA1-1704DC27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D031A-D2B9-4815-9451-085FDFAD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Proof anchor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0D4D7-277F-4EDE-AE7E-B2545374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Each scenario has a visual artifact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that explains why the alert deserves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attention.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FF4CF9-D482-4F22-9765-21892E8F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FC38A6-240B-4F79-A690-8F445DC0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6ECE92-C34A-4DAA-B112-DEC8067C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95B914-753E-4FB3-B95B-3FADF566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061720-96D6-4472-A11C-8D887567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BB8ACA-E2A3-40D9-81C7-5F7C642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8482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D7B860-6C1C-4177-A429-82CC2C93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Query pivot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9C57CA-0FF3-4A63-A24B-8C53F73D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The query appendix shows how an analyst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would narrow the case from event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context to response action.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5CFABE-1A05-40EB-BA95-FBA8849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44810E-2820-4EBC-AFC4-85465846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773062-4948-4536-8C2E-388EBC5A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749858-8273-425C-8141-AC1124F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7529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815AFB-37E7-4EAF-93EF-EFD801EC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8387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32D87C-AAD2-4295-863A-A275D2B1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9244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3D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D5B99C-A635-4FE2-867C-5CBA3B52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Response packet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24383D-7B49-4436-A817-863AD0D3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Checklist, timeline, and escalation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outline make the handoff defensible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without private prep notes.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122981-61D8-4012-B97D-C372519B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Public-safe lab package: synthetic datasets, sanitized evidence visuals, and no private tenant details.</a:t>
            </a:r>
          </a:p>
        </p:txBody>
      </p:sp>
    </p:spTree>
    <p:extLst>
      <p:ext uri="{BB962C8B-B14F-4D97-AF65-F5344CB8AC3E}">
        <p14:creationId xmlns:p14="http://schemas.microsoft.com/office/powerpoint/2010/main" val="1542347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E8C132-68FC-4587-846D-9311D0DA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E9E1C-925E-4AA6-8653-5E420D48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F5966-B669-406D-A466-7679F863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BE2DA-247D-457C-97CF-31D58C34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DETECTION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64213-1673-4D5A-BFD4-B6893A62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BACE7-2F57-4AC6-9C22-E03C9952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970C7-7893-45E8-9D50-F2671CB4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19050">
            <a:solidFill>
              <a:srgbClr val="14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D68E5-A863-4F7C-9CF4-212D2767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19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2E"/>
                </a:solidFill>
              </a:defRPr>
            </a:pPr>
            <a:r>
              <a:rPr sz="3000" b="1">
                <a:solidFill>
                  <a:srgbClr val="14202E"/>
                </a:solidFill>
              </a:rPr>
              <a:t>Each Scenario Follows The Same Analyst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F3BBB-15F0-4115-9577-FD9BE105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A consistent trigger-to-response structure makes the walkthrough easy to audit and easy to defend.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EE1F5-8FDE-4B19-987A-6DF2768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76300"/>
            <a:ext cx="34861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15f9ce3144cbc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52500"/>
            <a:ext cx="3333750" cy="2095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F0236-3F23-4A44-A5C4-76643E23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DETECTION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D50D5-4190-403B-A5B9-EE87B2FB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4D271-59E3-4C69-BEA2-857787E3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2DFA0-099D-439A-8316-ABFA00F4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66BED-5715-40B4-9406-65E3A82C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219450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55B67-58D7-4C63-BFF8-83A3E06E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81375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Correlate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84610-14B7-4A21-82B1-781BC5EF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F0349-D49D-4549-BD22-88852F41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19450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2F714-0E44-4A26-9B3D-A82FAF23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81375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Materiality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DF0F9-3E45-4A2E-A61B-93F2067B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18C5B-A6AE-4079-BD3B-A10FB15C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219450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5BE67E-3DBB-44BF-A6E2-8A77117F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381375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D5DE1-832C-43A3-AF39-80F545C9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025B3-CCCE-4A93-9D2D-C27B58F4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27FD4-10AE-45E0-BC6D-3E76FE45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D17F60-A369-4D90-9CF4-FB217AE3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0D3F6-6B4F-4D31-BBC4-C9C0465E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8101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C4F4ED-D51F-4102-8FDB-8B9F56E1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5E73EF-5585-41E9-AD8C-F4BD66E7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Trigger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3C8DAB-2E6B-4C42-8778-7E1710AE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Start from a concrete security signal: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identity anomaly, API change, secret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read, process chain, or object access.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D8C562-C3B8-48BC-BBA8-6D0266A0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A119B-32EE-409F-98B9-E8988742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0E52A4-B033-4184-A748-6F025280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5C1FC5-D5C2-4BB4-9983-797B8219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552AE3-EF06-4673-99C8-4D434E6A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A53F8-D015-493C-B0DD-752367D8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8482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444A11-A873-4E08-81CC-388E6242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Correlate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375231-4AE1-47CC-9C11-CB2E61BA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Connect the first signal to material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follow-on behavior before escalating.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88F6D8-524F-4373-BB73-55D53B34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A8D2C5-8B14-49BD-BDAA-83E6E6D8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0CA041-B1AA-4573-B854-6DED673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3FD125-3A14-48FD-AA7A-EC58349A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7529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649483-48FA-4D7B-A344-6A620772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8387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69348C-6C50-472E-B5EA-B24CA1F8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9244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3D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429DDD-2AA3-4D3E-9EEB-008D05D7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Respond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9BD1BB-84CB-4C54-BBB8-C57D052F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Choose containment, validation,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rotation, or escalation based on asset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and data impact.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6CD09E-B08C-46D1-AFDD-048E2685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Public-safe lab package: synthetic datasets, sanitized evidence visuals, and no private tenant details.</a:t>
            </a:r>
          </a:p>
        </p:txBody>
      </p:sp>
    </p:spTree>
    <p:extLst>
      <p:ext uri="{BB962C8B-B14F-4D97-AF65-F5344CB8AC3E}">
        <p14:creationId xmlns:p14="http://schemas.microsoft.com/office/powerpoint/2010/main" val="1402730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A73D8E-20E9-4CF8-B142-832921C0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FCEBD-1558-4BD4-8953-5516ACD3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7E260-F6D7-4D4E-A14C-3C448785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61E04-4885-4AD7-B958-A6409FA3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CLOUD SCENARIOS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35E2F-3B6F-4444-86D8-64E66315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B07F3-0B79-49B2-8EBC-48DB0FA9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F711D-7428-48BC-AEFF-7D9E84B3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19050">
            <a:solidFill>
              <a:srgbClr val="14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36538-9CE2-405E-AE2C-E65132D8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2E"/>
                </a:solidFill>
              </a:defRPr>
            </a:pPr>
            <a:r>
              <a:rPr sz="3000" b="1">
                <a:solidFill>
                  <a:srgbClr val="14202E"/>
                </a:solidFill>
              </a:rPr>
              <a:t>AWS Credential Misuse And S3 Access Show Cloud Materiality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A2FB4-909F-4ADC-80AB-F3AA9E5F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Discovery becomes an incident when privilege, secrets, or sensitive objects enter the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3163B-09ED-4FBF-A01F-068B2BAE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76300"/>
            <a:ext cx="34861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2d6ae81e64919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52500"/>
            <a:ext cx="3333750" cy="2095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4019B-DE51-4F76-B68C-AE91D1FF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CLOUD SCENARIOS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5AA90-487B-4117-A3DC-7E21C5D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3DAE5-DB47-48D8-8DF8-B0D271C7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CBCBA-BA5C-4E14-944C-F82AF4D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E"/>
                </a:solidFill>
              </a:defRPr>
            </a:pPr>
            <a:r>
              <a:rPr sz="2550" b="1">
                <a:solidFill>
                  <a:srgbClr val="14202E"/>
                </a:solidFill>
              </a:rPr>
              <a:t>IAM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A163C-AE4B-4FE8-B406-C1E34F46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Privilege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7F6CC-5E4E-4D1D-B48C-763680A4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First-seen credential plus policy-impacting API activity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8CDE0-2628-48BA-9EFF-5096087C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40FFD-1130-4924-A79F-C774E59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2C770-DC2F-474B-8BDE-CA011631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E"/>
                </a:solidFill>
              </a:defRPr>
            </a:pPr>
            <a:r>
              <a:rPr sz="2550" b="1">
                <a:solidFill>
                  <a:srgbClr val="14202E"/>
                </a:solidFill>
              </a:rPr>
              <a:t>S3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5CEC1-1CBC-4B54-A14A-415239DF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Data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90F54-FF7A-4E97-908E-6C2F771E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Novel principal with sensitive object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17599-9C8A-4B3C-9C3C-E8F4EEA1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6712E-BEE0-465F-B77D-3EDBA1E6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A7CA4A-2FF9-4598-99F4-ECD4CF2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E"/>
                </a:solidFill>
              </a:defRPr>
            </a:pPr>
            <a:r>
              <a:rPr sz="2550" b="1">
                <a:solidFill>
                  <a:srgbClr val="14202E"/>
                </a:solidFill>
              </a:rPr>
              <a:t>53s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E27AD-473F-4DAB-AF5B-4E0A093A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Detection target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CC19C1-5109-4B70-A9D5-8CD70731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Fast signal review after high-confidence activity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6B028-ACC4-44AC-8759-782BFDCC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Public-safe lab package: synthetic datasets, sanitized evidence visuals, and no private tenant details.</a:t>
            </a:r>
          </a:p>
        </p:txBody>
      </p:sp>
    </p:spTree>
    <p:extLst>
      <p:ext uri="{BB962C8B-B14F-4D97-AF65-F5344CB8AC3E}">
        <p14:creationId xmlns:p14="http://schemas.microsoft.com/office/powerpoint/2010/main" val="1162860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1A18F3-D373-44A5-B5BD-641056F6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5941C-2B7A-41BC-BFD1-767488B4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F2506-1D82-4FBC-89E4-EF1E2BA2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642CB-A653-4C3E-806F-B2AE9D94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RUNTIME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86250-24DD-48E3-A5D8-E6A7DCA3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96FCB-7E22-436C-8AD2-275CE80C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284BC-E3DE-4ADE-ADB0-182DEAF5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19050">
            <a:solidFill>
              <a:srgbClr val="14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B3139-C017-4A88-9B67-13820AA3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19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2E"/>
                </a:solidFill>
              </a:defRPr>
            </a:pPr>
            <a:r>
              <a:rPr sz="3000" b="1">
                <a:solidFill>
                  <a:srgbClr val="14202E"/>
                </a:solidFill>
              </a:rPr>
              <a:t>EKS Secret Access Chain Turns Runtime Noise Into Impact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DC542-D003-4AAB-AE31-25255761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important jump is from workload identity behavior into STS, secret retrieval, and KMS usage.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A0415-716C-49CB-89B3-0939E85F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76300"/>
            <a:ext cx="34861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32860fef8423d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52500"/>
            <a:ext cx="3333750" cy="2095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50EF9-5B22-4617-8127-6B4634E2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RUNTIME SCENARIO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1AC02-722E-493B-AA9E-340B0F4A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61DEC-6BA7-4A07-A7BB-450F6F82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Pod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F6336-433B-4CB7-89D4-4D0D9F66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F4463-AFE3-4670-8EA4-0099E0C0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F834B-F240-40D7-A2CD-C25483B5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Service account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AF5DF-FDEA-4265-B897-74D50442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A056F-6300-4A5D-99BB-DFB0A658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BE517-449D-4B60-871D-575826CF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2A014-C0C4-439F-A242-0AA5D934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40E2E-FE42-440F-B19C-01A037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5955BA-7C34-432A-AEC2-FE8B1121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Secret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7BBC03-9E08-497F-8F2F-E6DC404F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5CAEA5-1D8F-4C37-AF1A-35863E41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92DF3-DEAA-4BF5-8CFC-67F3D4C7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Rotate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DD259-C621-493C-8382-987EF5CD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71F45-D0FA-472E-99A0-66B1DAB2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C0CB8-E3AC-42D6-BC85-B80F5794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4BEDF2-25FD-4243-B0F3-36A31504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27E0E-7AE4-41D9-AC19-E111B3F1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8101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6F1192-CB19-429F-9E2C-423F61B6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7E0FB5-090A-4FFC-932E-DE3FC807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Workload identity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BB15CA-E6BD-45D2-AC20-C72E823C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Unexpected service-account activity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creates the first runtime signal.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282FA2-5B33-4356-9056-1A977AFC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F710D0-1632-4DF7-BE4C-5D0B4C3E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DB5801-D66B-4D0B-A02F-D70309A8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6D0B2D-D8FB-4DF4-8902-FACB59F1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10D891-7E21-4C34-8C1E-0ACC38FE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178B59-623D-434B-AA6A-13007C66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8482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623E2D-4268-4373-9733-6F3C5CB5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Secret touch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BCBDBE-1D51-4532-9078-4A37907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GetSecretValue or KMS decrypt makes the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case material.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0C9DC8-E765-4332-9184-508B9F39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591A2F-106C-448A-963E-C66E9F9B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2084F7-5AF1-43A5-A4AF-31294697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914F65-57F7-4F67-A97D-0617EFD0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7529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9941C6-5293-47E9-9EAF-3623DDE6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8387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10B0A6-0909-46BB-9EE0-B23B115F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9244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3D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79FD8F-E729-453E-A48F-A0166CEE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Response bias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FDD886-6B8A-40DA-B673-AAD2AA5D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Contain namespace or identity, preserve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workload evidence, and rotate touched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secrets.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816755-74AD-4E41-8641-50388263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Public-safe lab package: synthetic datasets, sanitized evidence visuals, and no private tenant details.</a:t>
            </a:r>
          </a:p>
        </p:txBody>
      </p:sp>
    </p:spTree>
    <p:extLst>
      <p:ext uri="{BB962C8B-B14F-4D97-AF65-F5344CB8AC3E}">
        <p14:creationId xmlns:p14="http://schemas.microsoft.com/office/powerpoint/2010/main" val="20274759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B068A-33B7-43B6-BC8A-0F1F930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BD32A-5D0E-4542-9B0F-E1AD7104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8FA2D-F871-4696-A080-CF1AB0CB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7AD6C-A16C-475B-9075-FBEFCA92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ENDPOINT TO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A6BCB-C299-4EA4-85C8-A3BCC789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8B6E0-72F5-4D94-9279-1CE39FB5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17FE4-7F3F-469B-A2E5-0C06C098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19050">
            <a:solidFill>
              <a:srgbClr val="14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C5ABC-EC2D-4F28-B0DD-8FD4F32E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19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2E"/>
                </a:solidFill>
              </a:defRPr>
            </a:pPr>
            <a:r>
              <a:rPr sz="3000" b="1">
                <a:solidFill>
                  <a:srgbClr val="14202E"/>
                </a:solidFill>
              </a:rPr>
              <a:t>Endpoint-To-MongoDB Pivot Connects Host Evidence To Data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0560A-69E3-40D6-BD05-48613AA3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Process lineage becomes higher priority when it lines up with database authentication and collection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1977C-CFEA-4FAD-951C-2F29252D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76300"/>
            <a:ext cx="34861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dc2d008c84227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52500"/>
            <a:ext cx="3333750" cy="2095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33880-43C1-449A-84B0-8DB33541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ENDPOINT TO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EC1A5-8EBC-4E8A-9432-B81639EE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49FB8-B2F3-4158-9CA4-2776129E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1C951-B849-4F23-B324-DCCACB98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A40FE-6080-4135-9D35-626AF863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07D8E-2129-4F93-848B-AD9F2EA4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Credential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1A655-7E26-4D54-81C1-9814BBA2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DD4B7-AD04-4A21-AE17-CF62A07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F3D54-BCD5-4DD5-BAFA-7A7D4403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DB auth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8704B-4424-43D7-9C96-ECB51BD9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AB2A0-AEE0-4363-8A65-AF3B0F42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63955-C500-4E2A-8CDE-723908DB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Collection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42618-B3B7-48AE-A07A-65AEE993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B06984-0823-4616-944F-185196B9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36312-DF28-441C-AAB2-5132E2B8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Contain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A7AAB-A861-4C18-978A-DAE9365A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36FC0A-DC44-490F-96BD-D5973A0B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D1E5C0-B03A-4383-9E20-56B6BDC2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8BC8C3-9EC1-45FE-BBFC-B07B7EB8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0AA260-D74A-472E-85CA-4E9FDD7A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8101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C56501-A784-46E0-B0E1-CB2018DF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5F3A82-F958-4155-ADF7-2E41AC79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Host signal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8E8943-5E93-465D-9E97-0595934B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Suspicious process lineage gives the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first endpoint proof.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6F6E64-D9FE-4FD0-A0B7-3304C897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8628A3-A123-45B1-AB66-67CEF942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D22023-7A65-4C6F-90AD-8D8C423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07F9E8-33DC-4C2F-8C43-1FB708D7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AED3D3-67E9-4351-8390-1DF07A9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DD3C9C-C89A-417D-9B94-539AACB3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8482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E61B2F-9C5E-4007-8E74-6C8F6BC9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Database touch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6DAFF4-B499-436F-995C-DEE4E2ED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MongoDB authentication and collection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access make the case data-facing.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5E376E-711E-4B63-9040-4BC68DD4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307CC1-0533-47CE-A289-7ECAB23E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252183-DF8A-4CA8-A4D6-E63CE8E0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DF63B4-1F3A-4FB9-9252-C42C6CF1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7529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589138-7CE5-4257-BDD7-EE0C0438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8387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0817E7-5674-4603-A80C-74109C1D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9244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3D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4E4EC7-2278-43CD-B4C8-0FC85EF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Containment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F9A982-8275-4D7D-9223-06A3CD0F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Preserve process lineage, contain the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host, and scope database reads.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B88A81-58D4-44BB-AB4E-80194902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Public-safe lab package: synthetic datasets, sanitized evidence visuals, and no private tenant details.</a:t>
            </a:r>
          </a:p>
        </p:txBody>
      </p:sp>
    </p:spTree>
    <p:extLst>
      <p:ext uri="{BB962C8B-B14F-4D97-AF65-F5344CB8AC3E}">
        <p14:creationId xmlns:p14="http://schemas.microsoft.com/office/powerpoint/2010/main" val="1998950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2533F0-2D7D-4A5D-B777-648E0763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76A54-5DA6-4121-8622-5EE73DE5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A777E-6F41-462F-8239-B26B5716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F7EEB-F570-4217-A4E8-D44698D5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HARNESS AND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A4E85-22FB-47BC-B039-898CFADD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9A4A6-0757-446C-926A-A00F51B3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E0795-12A9-4E15-A727-7F68EAD0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19050">
            <a:solidFill>
              <a:srgbClr val="14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91553-F3BC-4472-9DB4-AD355EED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2E"/>
                </a:solidFill>
              </a:defRPr>
            </a:pPr>
            <a:r>
              <a:rPr sz="3000" b="1">
                <a:solidFill>
                  <a:srgbClr val="14202E"/>
                </a:solidFill>
              </a:rPr>
              <a:t>The Demo Is Repeatable Because Replay Is Controlled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0359E-7C76-4675-BA48-545008EA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harness creates consistent validation data, while the dashboard keeps the review evidence-led.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F204C-1085-4953-B17F-604697F3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76300"/>
            <a:ext cx="34861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0c1f2cf6e46d4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52500"/>
            <a:ext cx="3333750" cy="2095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8CF51-E4C2-47B8-8807-7D07B6C2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HARNESS AND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D436A-CE50-4C16-9DEF-8E9FE3EA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D707C-3197-4901-9BFF-88B72F19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CD0B2-2B96-4CDF-9124-985C872E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E"/>
                </a:solidFill>
              </a:defRPr>
            </a:pPr>
            <a:r>
              <a:rPr sz="2550" b="1">
                <a:solidFill>
                  <a:srgbClr val="14202E"/>
                </a:solidFill>
              </a:rPr>
              <a:t>source:test-harness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A5EA7-89B1-4B03-9403-103A28A4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Replay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F3716-78E3-49CA-91CE-CD050DB3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Synthetic feed is visible and filterable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A8908-FDD4-4C2B-931B-90E043C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5A0EB-35A7-4A93-95FF-376E5EB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C01A9-FC78-4297-9277-968F9BA5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E"/>
                </a:solidFill>
              </a:defRPr>
            </a:pPr>
            <a:r>
              <a:rPr sz="2550" b="1">
                <a:solidFill>
                  <a:srgbClr val="14202E"/>
                </a:solidFill>
              </a:rPr>
              <a:t>synthetic:true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8BD2D-6F98-4D3F-A297-ABA3EC7F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Integrity tag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94E81-9B72-447F-93F3-DF3F88E1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Validation data is not confused with tenant telemetry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22F39-7EB1-427A-9321-409A55A2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93915-DC12-4E17-847F-3A373425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AE1E5-8ADE-4285-933C-AA82B571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E"/>
                </a:solidFill>
              </a:defRPr>
            </a:pPr>
            <a:r>
              <a:rPr sz="2550" b="1">
                <a:solidFill>
                  <a:srgbClr val="14202E"/>
                </a:solidFill>
              </a:rPr>
              <a:t>5 stages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0EBE9-F66A-402E-AFCE-B2C0F2BF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Dashboard 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A017A6-E579-45A6-8E00-D0B25A75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Scope, status, evidence, engineering,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A97B59-D36F-49C7-AAE8-9CB0270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Public-safe lab package: synthetic datasets, sanitized evidence visuals, and no private tenant details.</a:t>
            </a:r>
          </a:p>
        </p:txBody>
      </p:sp>
    </p:spTree>
    <p:extLst>
      <p:ext uri="{BB962C8B-B14F-4D97-AF65-F5344CB8AC3E}">
        <p14:creationId xmlns:p14="http://schemas.microsoft.com/office/powerpoint/2010/main" val="10324982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B3FB9-95C5-43EC-9B8C-C1C805B9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AD2BD-5EA0-459F-BF3B-34598800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E2E82-24E2-4275-A129-0B2992BB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87C42-889B-4518-BED2-7700E1A8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EDE42-682C-4936-81A7-B618313E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4078"/>
                </a:solidFill>
              </a:defRPr>
            </a:pPr>
            <a:r>
              <a:rPr sz="975" b="1">
                <a:solidFill>
                  <a:srgbClr val="174078"/>
                </a:solidFill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2E59E-AB4F-4BD9-BDC9-7A4035B2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9B6DF-7B66-457B-BA99-EF3994DF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19050">
            <a:solidFill>
              <a:srgbClr val="1420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55D4D-D069-4618-AF1A-619902D7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19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02E"/>
                </a:solidFill>
              </a:defRPr>
            </a:pPr>
            <a:r>
              <a:rPr sz="3000" b="1">
                <a:solidFill>
                  <a:srgbClr val="14202E"/>
                </a:solidFill>
              </a:rPr>
              <a:t>The Public Package Is Complete And Defensible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87790-603D-4BB1-8456-A1E72434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A reviewer can open the dashboard, follow the flowcharts, inspect evidence, understand the harness, and walk the scenarios.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68C73-C378-47CB-AD56-77DC9447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76300"/>
            <a:ext cx="34861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ba7b880c849d8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52500"/>
            <a:ext cx="3333750" cy="2095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1210F-99DF-439B-8545-8000D631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7D807-F369-407D-8B1D-0849004B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E33B7-6CF9-4902-B10D-5239BA21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DD5CF-4744-45D6-BDBE-BB02CD41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5E5D4-C438-4C6D-B0F2-022DE42C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E2BB8-5654-4533-AB63-F1AC73BA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1364B-7822-4FFB-A072-9E70CE55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E0818-4EAC-44A0-91BF-662ED3E2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4D0AC-1F8A-4A6A-904E-0C16BA0D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Scenarios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3F5AF-C96E-4472-8402-94C01C38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19BCC-2A5A-44B5-B6E6-C540333E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583C0-A810-434E-9520-9FBE6B4A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Harness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C5F06-D663-4FFD-A4F7-9200A2EC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078"/>
                </a:solidFill>
              </a:defRPr>
            </a:pPr>
            <a:r>
              <a:rPr sz="900" b="1">
                <a:solidFill>
                  <a:srgbClr val="174078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95E2B-F366-4A53-89D4-98042403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19450"/>
            <a:ext cx="1162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79694-D030-46B0-8763-7274AF43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81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2E"/>
                </a:solidFill>
              </a:defRPr>
            </a:pPr>
            <a:r>
              <a:rPr sz="975" b="1">
                <a:solidFill>
                  <a:srgbClr val="14202E"/>
                </a:solidFill>
              </a:rPr>
              <a:t>Closeout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B6965-8642-40C8-B2EB-BCDA4D38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BAB1F-5064-4499-BA1C-691811A8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801EA-EDD9-4CA3-886C-EEA72B53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35CFE-BF8D-42F5-826A-5291B4A1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863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415DE3-C932-4576-847E-881A0DDF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8101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118B72-11A4-4964-BD80-37D02767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97D94B-DB79-410D-B259-3E7AD69A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Complete package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AFE5C9-0D26-4CBF-A81E-70713142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Dashboard, datasets, harness, evidence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assets, flowcharts, query appendix, and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deck are aligned.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D547BE-10F5-4249-8E34-4F57E9C8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E0470-375C-456A-9760-EC119A8A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3022B6-C7C2-4444-96C9-04CB2D78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849EB1-933C-4E82-95D0-C424BC88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345390-AAFC-4B38-84E5-031E873B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79896A-5FCA-441A-9B60-CAAE9B42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8482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D2EF1B-C7DC-4C8D-BA92-14606D7E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Public-safe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FADED7-6C23-4CCD-9A71-1385767B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No company names, private screenshots,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credentials, secret values, customer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data, or tenant identifiers.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96892E-D266-4636-A3B4-0D7E7097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33845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203222-03D6-4C6B-9508-EE1385B1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8150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D77EC1-DD64-419D-B486-E281D60F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610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1420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714332-4E61-4E4A-933B-DAF3EC59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7529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9A6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57AB6F-9736-4CC1-ACB4-CB6852D4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8387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3F773E-37C8-4998-A2CA-B3FEEFF8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9244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3D"/>
          </a:solidFill>
          <a:ln xmlns:a="http://schemas.openxmlformats.org/drawingml/2006/main" w="9525">
            <a:solidFill>
              <a:srgbClr val="14202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501119-90A1-450C-BF88-46DF3F3B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5910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078"/>
                </a:solidFill>
              </a:defRPr>
            </a:pPr>
            <a:r>
              <a:rPr sz="1125" b="1">
                <a:solidFill>
                  <a:srgbClr val="174078"/>
                </a:solidFill>
              </a:rPr>
              <a:t>Demo-ready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34C364-7AE8-429A-9960-CA0B8EB9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105400"/>
            <a:ext cx="292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The walkthrough has clear truth rules,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backup visuals, and a repeatable run</a:t>
            </a:r>
          </a:p>
          <a:p xmlns:a="http://schemas.openxmlformats.org/drawingml/2006/main">
            <a:pPr algn="l">
              <a:defRPr sz="1050" b="0">
                <a:solidFill>
                  <a:srgbClr val="14202E"/>
                </a:solidFill>
              </a:defRPr>
            </a:pPr>
            <a:r>
              <a:rPr sz="1050" b="0">
                <a:solidFill>
                  <a:srgbClr val="14202E"/>
                </a:solidFill>
              </a:rPr>
              <a:t>order.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FD7AA9-9D3F-411A-88AF-0DBCAD74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Public-safe lab package: synthetic datasets, sanitized evidence visuals, and no private tenant details.</a:t>
            </a:r>
          </a:p>
        </p:txBody>
      </p:sp>
    </p:spTree>
    <p:extLst>
      <p:ext uri="{BB962C8B-B14F-4D97-AF65-F5344CB8AC3E}">
        <p14:creationId xmlns:p14="http://schemas.microsoft.com/office/powerpoint/2010/main" val="286348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2026-04-29T00:37:41.8760000Z</dcterms:created>
  <dcterms:modified xsi:type="dcterms:W3CDTF">2026-04-29T00:37:41.8760000Z</dcterms:modified>
</coreProperties>
</file>