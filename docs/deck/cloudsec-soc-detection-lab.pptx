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9d809b8572d41c6" /><Relationship Type="http://schemas.openxmlformats.org/officeDocument/2006/relationships/extended-properties" Target="/docProps/app.xml" Id="R40c15486ed484dfa" /><Relationship Type="http://schemas.openxmlformats.org/officeDocument/2006/relationships/officeDocument" Target="/ppt/presentation.xml" Id="R4d5c2f20c8fc4b6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eaa28830b64465c"/>
  </p:sldMasterIdLst>
  <p:notesMasterIdLst>
    <p:notesMasterId xmlns:r="http://schemas.openxmlformats.org/officeDocument/2006/relationships" r:id="Rfc55ec4732254393"/>
  </p:notesMasterIdLst>
  <p:sldIdLst>
    <p:sldId xmlns:r="http://schemas.openxmlformats.org/officeDocument/2006/relationships" id="256" r:id="R543041d3dde54c09"/>
    <p:sldId xmlns:r="http://schemas.openxmlformats.org/officeDocument/2006/relationships" id="257" r:id="R163c23bc5e11472e"/>
    <p:sldId xmlns:r="http://schemas.openxmlformats.org/officeDocument/2006/relationships" id="258" r:id="R88ae80dbae4542f4"/>
    <p:sldId xmlns:r="http://schemas.openxmlformats.org/officeDocument/2006/relationships" id="259" r:id="R1a603b0fa232431c"/>
    <p:sldId xmlns:r="http://schemas.openxmlformats.org/officeDocument/2006/relationships" id="260" r:id="Rfce685047ecd478f"/>
    <p:sldId xmlns:r="http://schemas.openxmlformats.org/officeDocument/2006/relationships" id="261" r:id="R36aa2ab937fb4e87"/>
    <p:sldId xmlns:r="http://schemas.openxmlformats.org/officeDocument/2006/relationships" id="262" r:id="R87b62f8bf7f449d4"/>
    <p:sldId xmlns:r="http://schemas.openxmlformats.org/officeDocument/2006/relationships" id="263" r:id="R07e9c390e3204286"/>
    <p:sldId xmlns:r="http://schemas.openxmlformats.org/officeDocument/2006/relationships" id="264" r:id="R6ccfb21201ba4f69"/>
    <p:sldId xmlns:r="http://schemas.openxmlformats.org/officeDocument/2006/relationships" id="265" r:id="R5ad968f9c2bb4cd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aa28830b64465c" /><Relationship Type="http://schemas.openxmlformats.org/officeDocument/2006/relationships/theme" Target="/ppt/theme/theme1.xml" Id="Re2c534e3bbb54c38" /><Relationship Type="http://schemas.openxmlformats.org/officeDocument/2006/relationships/notesMaster" Target="/ppt/notesMasters/notesMaster1.xml" Id="Rfc55ec4732254393" /><Relationship Type="http://schemas.openxmlformats.org/officeDocument/2006/relationships/presProps" Target="/ppt/presProps.xml" Id="Ra8c3ff92aa774a24" /><Relationship Type="http://schemas.openxmlformats.org/officeDocument/2006/relationships/viewProps" Target="/ppt/viewProps.xml" Id="Re2348bc6f31440e5" /><Relationship Type="http://schemas.openxmlformats.org/officeDocument/2006/relationships/tableStyles" Target="/ppt/tableStyles.xml" Id="R4e4776896fb749df" /><Relationship Type="http://schemas.openxmlformats.org/officeDocument/2006/relationships/slide" Target="/ppt/slides/slide1.xml" Id="R543041d3dde54c09" /><Relationship Type="http://schemas.openxmlformats.org/officeDocument/2006/relationships/slide" Target="/ppt/slides/slide2.xml" Id="R163c23bc5e11472e" /><Relationship Type="http://schemas.openxmlformats.org/officeDocument/2006/relationships/slide" Target="/ppt/slides/slide3.xml" Id="R88ae80dbae4542f4" /><Relationship Type="http://schemas.openxmlformats.org/officeDocument/2006/relationships/slide" Target="/ppt/slides/slide4.xml" Id="R1a603b0fa232431c" /><Relationship Type="http://schemas.openxmlformats.org/officeDocument/2006/relationships/slide" Target="/ppt/slides/slide5.xml" Id="Rfce685047ecd478f" /><Relationship Type="http://schemas.openxmlformats.org/officeDocument/2006/relationships/slide" Target="/ppt/slides/slide6.xml" Id="R36aa2ab937fb4e87" /><Relationship Type="http://schemas.openxmlformats.org/officeDocument/2006/relationships/slide" Target="/ppt/slides/slide7.xml" Id="R87b62f8bf7f449d4" /><Relationship Type="http://schemas.openxmlformats.org/officeDocument/2006/relationships/slide" Target="/ppt/slides/slide8.xml" Id="R07e9c390e3204286" /><Relationship Type="http://schemas.openxmlformats.org/officeDocument/2006/relationships/slide" Target="/ppt/slides/slide9.xml" Id="R6ccfb21201ba4f69" /><Relationship Type="http://schemas.openxmlformats.org/officeDocument/2006/relationships/slide" Target="/ppt/slides/slide10.xml" Id="R5ad968f9c2bb4cd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e8cc01d70102469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c9a6d86a76540d4" /><Relationship Type="http://schemas.openxmlformats.org/officeDocument/2006/relationships/notesMaster" Target="/ppt/notesMasters/notesMaster1.xml" Id="R326bafd07f3d4a8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1c0304c5dbe4a8c" /><Relationship Type="http://schemas.openxmlformats.org/officeDocument/2006/relationships/notesMaster" Target="/ppt/notesMasters/notesMaster1.xml" Id="Ra6b5565a909242f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33a9d89af804d04" /><Relationship Type="http://schemas.openxmlformats.org/officeDocument/2006/relationships/notesMaster" Target="/ppt/notesMasters/notesMaster1.xml" Id="R54a97f6cc8734a1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21ed88585af446b" /><Relationship Type="http://schemas.openxmlformats.org/officeDocument/2006/relationships/notesMaster" Target="/ppt/notesMasters/notesMaster1.xml" Id="Rbcf141ce2fa841e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eedce5a571f4f12" /><Relationship Type="http://schemas.openxmlformats.org/officeDocument/2006/relationships/notesMaster" Target="/ppt/notesMasters/notesMaster1.xml" Id="R787cd9a46c144e1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70c78ed345f4498" /><Relationship Type="http://schemas.openxmlformats.org/officeDocument/2006/relationships/notesMaster" Target="/ppt/notesMasters/notesMaster1.xml" Id="R9780cec01c954cb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4d8149d73b041d8" /><Relationship Type="http://schemas.openxmlformats.org/officeDocument/2006/relationships/notesMaster" Target="/ppt/notesMasters/notesMaster1.xml" Id="Rcb80431983104b7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50bd09fcd6f4932" /><Relationship Type="http://schemas.openxmlformats.org/officeDocument/2006/relationships/notesMaster" Target="/ppt/notesMasters/notesMaster1.xml" Id="Rdf83c46600aa449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b88cd13cf574b99" /><Relationship Type="http://schemas.openxmlformats.org/officeDocument/2006/relationships/notesMaster" Target="/ppt/notesMasters/notesMaster1.xml" Id="R8b46a0f383074a9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0779ba17209434a" /><Relationship Type="http://schemas.openxmlformats.org/officeDocument/2006/relationships/notesMaster" Target="/ppt/notesMasters/notesMaster1.xml" Id="R6373afb254934c3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by stating the boundary: this is a sanitized portfolio lab that demonstrates detection-engineering flow, not a production coverage claim.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evidence-templates/asset-manifest.md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to show that the repo is a complete working model, not a collection of unrelated screenshots.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docs/architecture-and-flowcharts.md</a:t>
            </a:r>
          </a:p>
          <a:p xmlns:a="http://schemas.openxmlformats.org/drawingml/2006/main">
            <a:r>
              <a:t>- harness/lambda_function.py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Emphasize completeness: the value is the mapped detection workflow, not a claim that every vendor feed is live.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data/*.csv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Make the integrity point: sanitized does not mean vague. The proof chain is still explicit.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evidence-templates/asset-manifest.md</a:t>
            </a:r>
          </a:p>
          <a:p xmlns:a="http://schemas.openxmlformats.org/drawingml/2006/main">
            <a:r>
              <a:t>- docs/queries/cli-query-examples.md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core reusable detection-engineering model across all five scenarios.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docs/architecture-and-flowcharts.md</a:t>
            </a:r>
          </a:p>
          <a:p xmlns:a="http://schemas.openxmlformats.org/drawingml/2006/main">
            <a:r>
              <a:t>- dashboard/dashboard-data.js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Tie cloud alerts to business impact without using any private resource names.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docs/queries/cli-query-examples.md</a:t>
            </a:r>
          </a:p>
          <a:p xmlns:a="http://schemas.openxmlformats.org/drawingml/2006/main">
            <a:r>
              <a:t>- evidence-templates/asset-manifest.md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slide that explains why runtime telemetry matters to cloud response.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docs/queries/cli-query-examples.md</a:t>
            </a:r>
          </a:p>
          <a:p xmlns:a="http://schemas.openxmlformats.org/drawingml/2006/main">
            <a:r>
              <a:t>- evidence-templates/asset-manifest.md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Keep the boundary honest: endpoint and database views are public-safe supporting/context panels.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docs/queries/cli-query-examples.md</a:t>
            </a:r>
          </a:p>
          <a:p xmlns:a="http://schemas.openxmlformats.org/drawingml/2006/main">
            <a:r>
              <a:t>- evidence-templates/asset-manifest.md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explains how to run the demo without hoping live random activity appears.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harness/lambda_function.py</a:t>
            </a:r>
          </a:p>
          <a:p xmlns:a="http://schemas.openxmlformats.org/drawingml/2006/main">
            <a:r>
              <a:t>- docs/demo-walkthrough.md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End by inviting a review of the dashboard and scenario proof map.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docs/demo-walkthrough.md</a:t>
            </a:r>
          </a:p>
          <a:p xmlns:a="http://schemas.openxmlformats.org/drawingml/2006/main">
            <a:r>
              <a:t>- evidence-templates/asset-manifest.md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1f6f6d19a24c71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2868e7f520d74909" /><Relationship Type="http://schemas.openxmlformats.org/officeDocument/2006/relationships/slideLayout" Target="/ppt/slideLayouts/slideLayout2.xml" Id="R73dc1b71d18a49b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3dc1b71d18a49b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d7b84f6bcb54e05" /><Relationship Type="http://schemas.openxmlformats.org/officeDocument/2006/relationships/image" Target="/ppt/media/image.png" Id="Reb09c2cf281a49fb" /><Relationship Type="http://schemas.openxmlformats.org/officeDocument/2006/relationships/notesSlide" Target="/ppt/notesSlides/notesSlide1.xml" Id="Re5f708b9cd004a7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23763c368234109" /><Relationship Type="http://schemas.openxmlformats.org/officeDocument/2006/relationships/image" Target="/ppt/media/image2.png" Id="R55e9cd3f0a5e4985" /><Relationship Type="http://schemas.openxmlformats.org/officeDocument/2006/relationships/notesSlide" Target="/ppt/notesSlides/notesSlide2.xml" Id="Rd4e642aaccd4477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80b99b360e1442f" /><Relationship Type="http://schemas.openxmlformats.org/officeDocument/2006/relationships/image" Target="/ppt/media/image3.png" Id="R16d29e2cc6a04c9f" /><Relationship Type="http://schemas.openxmlformats.org/officeDocument/2006/relationships/notesSlide" Target="/ppt/notesSlides/notesSlide3.xml" Id="R7eadcd86dcff49e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e985e9435154121" /><Relationship Type="http://schemas.openxmlformats.org/officeDocument/2006/relationships/image" Target="/ppt/media/image4.png" Id="R7deb4b7b47894588" /><Relationship Type="http://schemas.openxmlformats.org/officeDocument/2006/relationships/notesSlide" Target="/ppt/notesSlides/notesSlide4.xml" Id="R27c9b1d9bbf344b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45a635863464e3e" /><Relationship Type="http://schemas.openxmlformats.org/officeDocument/2006/relationships/image" Target="/ppt/media/image5.png" Id="Rada15f9ce3144cbc" /><Relationship Type="http://schemas.openxmlformats.org/officeDocument/2006/relationships/notesSlide" Target="/ppt/notesSlides/notesSlide5.xml" Id="R589593a1eaed490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88e2ff8df384f8a" /><Relationship Type="http://schemas.openxmlformats.org/officeDocument/2006/relationships/image" Target="/ppt/media/image6.png" Id="R8292d6ae81e64919" /><Relationship Type="http://schemas.openxmlformats.org/officeDocument/2006/relationships/notesSlide" Target="/ppt/notesSlides/notesSlide6.xml" Id="R473137bae0a0471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6fd5668118c4a9a" /><Relationship Type="http://schemas.openxmlformats.org/officeDocument/2006/relationships/image" Target="/ppt/media/image7.png" Id="R1b332860fef8423d" /><Relationship Type="http://schemas.openxmlformats.org/officeDocument/2006/relationships/notesSlide" Target="/ppt/notesSlides/notesSlide7.xml" Id="Re578091fe014439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649b949e8684dc0" /><Relationship Type="http://schemas.openxmlformats.org/officeDocument/2006/relationships/image" Target="/ppt/media/image8.png" Id="R9ebdc2d008c84227" /><Relationship Type="http://schemas.openxmlformats.org/officeDocument/2006/relationships/notesSlide" Target="/ppt/notesSlides/notesSlide8.xml" Id="R8656e6c45beb460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6d73f80d13f483b" /><Relationship Type="http://schemas.openxmlformats.org/officeDocument/2006/relationships/image" Target="/ppt/media/image9.png" Id="R3c60c1f2cf6e46d4" /><Relationship Type="http://schemas.openxmlformats.org/officeDocument/2006/relationships/notesSlide" Target="/ppt/notesSlides/notesSlide9.xml" Id="Rdb1171d1d85d496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2e2c53436ae479a" /><Relationship Type="http://schemas.openxmlformats.org/officeDocument/2006/relationships/image" Target="/ppt/media/image10.png" Id="R4fdba7b880c849d8" /><Relationship Type="http://schemas.openxmlformats.org/officeDocument/2006/relationships/notesSlide" Target="/ppt/notesSlides/notesSlide10.xml" Id="Rb03d96a689c6457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2C5EF02-9D69-4ADE-A613-D2D39FE61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091CAF-0924-478D-9A35-FC7170D0A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5550"/>
            <a:ext cx="1219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E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25F404-EDD0-4704-B066-9CEA0DF3C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E457DC-1CB6-45FD-9A82-4EFBF481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6667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4D12ED-0579-4ADB-9E06-55804FFC9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38200"/>
            <a:ext cx="495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4078"/>
                </a:solidFill>
              </a:defRPr>
            </a:pPr>
            <a:r>
              <a:rPr sz="975" b="1">
                <a:solidFill>
                  <a:srgbClr val="174078"/>
                </a:solidFill>
              </a:rPr>
              <a:t>PUBLIC-SAFE SOC 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4FB819-0F67-4626-966B-E07D87C8A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38250"/>
            <a:ext cx="7477125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4202E"/>
                </a:solidFill>
              </a:defRPr>
            </a:pPr>
            <a:r>
              <a:rPr sz="3600" b="1">
                <a:solidFill>
                  <a:srgbClr val="14202E"/>
                </a:solidFill>
              </a:rPr>
              <a:t>CloudSec SOC Detection Lab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05A6B1-717D-42D5-B441-A1E648C27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05150"/>
            <a:ext cx="581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A complete detection-engineering package with dashboard, synthetic datasets, replay harness, evidence visuals, flowcharts, and demo runbook.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A1B053-3393-464E-8CDC-E985CAF30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971550"/>
            <a:ext cx="4152900" cy="3009900"/>
          </a:xfrm>
          <a:prstGeom xmlns:a="http://schemas.openxmlformats.org/drawingml/2006/main" prst="roundRect">
            <a:avLst>
              <a:gd name="adj" fmla="val 25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09c2cf281a49f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0" y="10477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F7C4F5-BFC1-4A98-A3DF-D183B1A84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73380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34155"/>
                </a:solidFill>
              </a:defRPr>
            </a:pPr>
            <a:r>
              <a:rPr sz="900" b="1">
                <a:solidFill>
                  <a:srgbClr val="334155"/>
                </a:solidFill>
              </a:rPr>
              <a:t>Architecture coverage map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55CD84-3DF0-4D25-8DD7-4F25E1AB7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43400"/>
            <a:ext cx="3714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C16CD2-E29C-4129-8ECB-D762A9A14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52950"/>
            <a:ext cx="32004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202E"/>
                </a:solidFill>
              </a:defRPr>
            </a:pPr>
            <a:r>
              <a:rPr sz="1725" b="1">
                <a:solidFill>
                  <a:srgbClr val="14202E"/>
                </a:solidFill>
              </a:rPr>
              <a:t>Five scenarios, one evidence-led story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E030BA-BE7D-4060-9FE5-D54BD1A8B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Public-safe lab package: synthetic datasets, sanitized evidence visuals, and no private tenant details.</a:t>
            </a:r>
          </a:p>
        </p:txBody>
      </p:sp>
    </p:spTree>
    <p:extLst>
      <p:ext uri="{BB962C8B-B14F-4D97-AF65-F5344CB8AC3E}">
        <p14:creationId xmlns:p14="http://schemas.microsoft.com/office/powerpoint/2010/main" val="22153376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A99BFFC-EE33-4385-A39F-C395D2E64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638FF5-1DEC-4470-A617-DFBD4F7F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5550"/>
            <a:ext cx="1219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E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89462B-91CA-4ACC-870A-1C421B849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88F7A2-4B08-41EB-9E98-5F9F2BCDC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4078"/>
                </a:solidFill>
              </a:defRPr>
            </a:pPr>
            <a:r>
              <a:rPr sz="975" b="1">
                <a:solidFill>
                  <a:srgbClr val="174078"/>
                </a:solidFill>
              </a:rPr>
              <a:t>ARCHITECTURE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D1EBE2-003C-425F-8607-72560B550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74078"/>
                </a:solidFill>
              </a:defRPr>
            </a:pPr>
            <a:r>
              <a:rPr sz="975" b="1">
                <a:solidFill>
                  <a:srgbClr val="174078"/>
                </a:solidFill>
              </a:rPr>
              <a:t>02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2833A5-BB74-4B67-AD94-3BBBB0CA7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0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E73CCF-4E5E-40C6-AA17-AD443BE76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19050">
            <a:solidFill>
              <a:srgbClr val="14202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36F621-93C5-4C7E-90DC-876F4A0FB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61912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4202E"/>
                </a:solidFill>
              </a:defRPr>
            </a:pPr>
            <a:r>
              <a:rPr sz="3000" b="1">
                <a:solidFill>
                  <a:srgbClr val="14202E"/>
                </a:solidFill>
              </a:rPr>
              <a:t>The Lab Moves From Scenario Data To Analyst Action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F9EF7B-EDE1-447F-9CDF-0124FBD9F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191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34155"/>
                </a:solidFill>
              </a:defRPr>
            </a:pPr>
            <a:r>
              <a:rPr sz="1425" b="0">
                <a:solidFill>
                  <a:srgbClr val="334155"/>
                </a:solidFill>
              </a:rPr>
              <a:t>The working model is intentionally layered: scenario rows, controlled replay, log visibility, monitor logic, evidence, and response.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570F23-A0EA-4543-BFBC-2F72E3BE2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876300"/>
            <a:ext cx="3486150" cy="2533650"/>
          </a:xfrm>
          <a:prstGeom xmlns:a="http://schemas.openxmlformats.org/drawingml/2006/main" prst="roundRect">
            <a:avLst>
              <a:gd name="adj" fmla="val 30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e9cd3f0a5e4985"/>
          <a:srcRect xmlns:a="http://schemas.openxmlformats.org/drawingml/2006/main" l="0" t="1111" r="0" b="11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0500" y="952500"/>
            <a:ext cx="3333750" cy="20955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0D51BB-8E2D-4C31-A762-55DE02A41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333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34155"/>
                </a:solidFill>
              </a:defRPr>
            </a:pPr>
            <a:r>
              <a:rPr sz="900" b="1">
                <a:solidFill>
                  <a:srgbClr val="334155"/>
                </a:solidFill>
              </a:rPr>
              <a:t>ARCHITECTURE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966B96-E2AF-43C2-880B-BD3A795F5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63AE80-7F41-48E0-8AE6-4A7E19682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Scenario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3A7B76-312F-4CA6-A93E-763908ACE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5C3CFF-DC74-4ED5-B236-94E9B849F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E216BB-618F-41C1-B909-7D7C6B664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Replay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F6DAA4-9E2C-457A-8C9B-53B5C00AB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DB05FF-273F-4E47-8DB1-5AC115D7A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39A4AC-0959-4469-BBD7-31AD604D1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Logs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584A5A-DD27-4C73-924C-F8D979694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5FA777-6730-4BBA-B600-E77079684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64B138-E8C8-4962-8932-73456E999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Monitor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D0F91E-68BE-4529-B0D0-4D1A8F81E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E75340-34F2-4A53-AD6E-211A0957C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DBCF78-ACFD-4CF1-86E9-BF5133453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Triage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EE65061-7588-4737-BBA2-6BD2A5C73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81500"/>
            <a:ext cx="338455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9DE787-CD37-42B8-B1AE-16D6276C3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81500"/>
            <a:ext cx="762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9DF43F5-D50D-4113-BD49-FCA7A4800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610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EF4A273-0572-40A4-A4EE-3C3B17864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86325"/>
            <a:ext cx="57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1137FFE-DBC9-4A41-8EA8-987A703EA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4810125"/>
            <a:ext cx="57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A1B5000-6CB3-46D4-B179-182B82782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43450"/>
            <a:ext cx="571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8A6E559-C4AE-4F33-B276-B94BBF75A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910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078"/>
                </a:solidFill>
              </a:defRPr>
            </a:pPr>
            <a:r>
              <a:rPr sz="1125" b="1">
                <a:solidFill>
                  <a:srgbClr val="174078"/>
                </a:solidFill>
              </a:rPr>
              <a:t>Signal generation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25AB292-2CF8-4E3A-856F-C4388F8A5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29273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Synthetic scenario rows model identity,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cloud, runtime, endpoint, and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data-access behavior without private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data.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531E44B-30A4-4BDD-8AC6-917A36AA8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381500"/>
            <a:ext cx="338455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58980F9-E73A-4DDF-9AA8-9F7773A4C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381500"/>
            <a:ext cx="762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F1897FE-0FA1-4E40-9A9A-F3D16ABD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2800" y="4610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C3F182A-816F-4356-B438-E4CA62AD7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6625" y="4781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5D49747-6EFA-4AFD-84A1-4DB1DA06C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8075" y="4867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D7AC472-BEBA-4143-9709-C11C3F05D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2350" y="4848225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0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B9E8122-719A-4683-8761-D29685C2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1450" y="45910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078"/>
                </a:solidFill>
              </a:defRPr>
            </a:pPr>
            <a:r>
              <a:rPr sz="1125" b="1">
                <a:solidFill>
                  <a:srgbClr val="174078"/>
                </a:solidFill>
              </a:rPr>
              <a:t>Detection validation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9B7F964-F98C-47F7-A557-F4F738E32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850" y="5105400"/>
            <a:ext cx="29273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Lambda replay sends controlled events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to Datadog-style logs using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source:test-harness and synthetic:true.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3DBCC7D-AC27-4723-A4C9-341C82BDE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381500"/>
            <a:ext cx="338455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9DE7A09-C5B0-4D36-AB3E-39F7CD9C6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381500"/>
            <a:ext cx="762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1EA8145-8FEC-4B02-AB5E-A548C34C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950" y="4610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FD62F42-7868-4CFC-9439-657C117E5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775" y="4752975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359A6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701B22C-A923-4F7A-9449-3DE80BEA4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7400" y="4838700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7791F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21A7B8D-F3F9-483C-9EE5-0A42C7AEA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5025" y="4924425"/>
            <a:ext cx="190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2413D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C2F53B3-6DAA-4622-853C-87130283F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600" y="45910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078"/>
                </a:solidFill>
              </a:defRPr>
            </a:pPr>
            <a:r>
              <a:rPr sz="1125" b="1">
                <a:solidFill>
                  <a:srgbClr val="174078"/>
                </a:solidFill>
              </a:rPr>
              <a:t>Analyst output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D1B7309-DBAA-467F-9395-64CCC709F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5105400"/>
            <a:ext cx="29273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The dashboard maps proof, query pivots,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response decisions, and demo order into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one review path.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29D269D-F937-4AEE-B9C7-9ED50BC9B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Public-safe lab package: synthetic datasets, sanitized evidence visuals, and no private tenant details.</a:t>
            </a:r>
          </a:p>
        </p:txBody>
      </p:sp>
    </p:spTree>
    <p:extLst>
      <p:ext uri="{BB962C8B-B14F-4D97-AF65-F5344CB8AC3E}">
        <p14:creationId xmlns:p14="http://schemas.microsoft.com/office/powerpoint/2010/main" val="32657147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6171B87-E76C-40CE-9DAF-157D4744C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B74AC8-0D0F-483A-BB7D-17C2230F1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5550"/>
            <a:ext cx="1219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E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FA8A4A-4131-4A8E-883F-0BE14E9F4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2F20BC-2F1E-49B2-8FC1-DCD144498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4078"/>
                </a:solidFill>
              </a:defRPr>
            </a:pPr>
            <a:r>
              <a:rPr sz="975" b="1">
                <a:solidFill>
                  <a:srgbClr val="174078"/>
                </a:solidFill>
              </a:rPr>
              <a:t>COVERAGE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3DC396-CB09-41C9-ABE2-86B6C33C9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74078"/>
                </a:solidFill>
              </a:defRPr>
            </a:pPr>
            <a:r>
              <a:rPr sz="975" b="1">
                <a:solidFill>
                  <a:srgbClr val="174078"/>
                </a:solidFill>
              </a:rPr>
              <a:t>03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2BB064-DEC5-452C-A72A-84180B660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0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84B3A6-821D-49EC-9AAA-1F4A0C0B7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19050">
            <a:solidFill>
              <a:srgbClr val="14202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9E1BEC-AFE6-407C-BB13-DFBD8D714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6667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4202E"/>
                </a:solidFill>
              </a:defRPr>
            </a:pPr>
            <a:r>
              <a:rPr sz="3000" b="1">
                <a:solidFill>
                  <a:srgbClr val="14202E"/>
                </a:solidFill>
              </a:rPr>
              <a:t>Five Scenarios Cover The Core SOC Review Surface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131CBE-8864-4269-9FE0-CF1E696F6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66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34155"/>
                </a:solidFill>
              </a:defRPr>
            </a:pPr>
            <a:r>
              <a:rPr sz="1425" b="0">
                <a:solidFill>
                  <a:srgbClr val="334155"/>
                </a:solidFill>
              </a:rPr>
              <a:t>Every scenario has a trigger, correlation path, proof anchor, query pivot, and response posture.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CD8543-479B-438F-8A99-FCA7E9468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876300"/>
            <a:ext cx="3486150" cy="2533650"/>
          </a:xfrm>
          <a:prstGeom xmlns:a="http://schemas.openxmlformats.org/drawingml/2006/main" prst="roundRect">
            <a:avLst>
              <a:gd name="adj" fmla="val 30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d29e2cc6a04c9f"/>
          <a:srcRect xmlns:a="http://schemas.openxmlformats.org/drawingml/2006/main" l="0" t="1111" r="0" b="11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0500" y="952500"/>
            <a:ext cx="3333750" cy="20955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AE7852-9107-479E-A1A7-256E1FDEA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333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34155"/>
                </a:solidFill>
              </a:defRPr>
            </a:pPr>
            <a:r>
              <a:rPr sz="900" b="1">
                <a:solidFill>
                  <a:srgbClr val="334155"/>
                </a:solidFill>
              </a:rPr>
              <a:t>COVERAGE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9FBF96-413E-449E-9A09-1BF7D51B0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FDDF83-D245-4966-AFC3-0AC67D388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202E29-65EA-4C91-B359-ECE3477BC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02E"/>
                </a:solidFill>
              </a:defRPr>
            </a:pPr>
            <a:r>
              <a:rPr sz="2550" b="1">
                <a:solidFill>
                  <a:srgbClr val="14202E"/>
                </a:solidFill>
              </a:rPr>
              <a:t>5/5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38788D-0B4A-4625-9F00-99EE78B8B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Scenario coverage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5DE5A2-91CF-471B-8D50-5E1763ED5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Identity, cloud, runtime, endpoint, and data access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2AFCFD-698C-4451-A993-49C93FF1E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C836A1-C6B5-4588-9A16-C7E11652E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AB08D9-7BD7-4E15-A53B-8DA741F02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02E"/>
                </a:solidFill>
              </a:defRPr>
            </a:pPr>
            <a:r>
              <a:rPr sz="2550" b="1">
                <a:solidFill>
                  <a:srgbClr val="14202E"/>
                </a:solidFill>
              </a:rPr>
              <a:t>18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E598DD-A877-4485-ADE9-1B177D9D5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Evidence visuals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5FBE4F-DECD-42C4-940C-7452408E7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Repo-owned public-safe assets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344D89-2C3D-4978-B06F-06D402740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59ABF8-08F1-4942-AAC5-DDD914806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1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09472A-91FF-4BCD-9785-EE93828E1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02E"/>
                </a:solidFill>
              </a:defRPr>
            </a:pPr>
            <a:r>
              <a:rPr sz="2550" b="1">
                <a:solidFill>
                  <a:srgbClr val="14202E"/>
                </a:solidFill>
              </a:rPr>
              <a:t>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8D8632A-EC38-427E-A0ED-EEF809E5D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Synthetic datasets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D8FE62-2BF6-47B1-A600-31916554C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Alerts, identity, cloud, endpoint, assets, timeline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E692791-FACB-4708-8843-7C618AD50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Public-safe lab package: synthetic datasets, sanitized evidence visuals, and no private tenant details.</a:t>
            </a:r>
          </a:p>
        </p:txBody>
      </p:sp>
    </p:spTree>
    <p:extLst>
      <p:ext uri="{BB962C8B-B14F-4D97-AF65-F5344CB8AC3E}">
        <p14:creationId xmlns:p14="http://schemas.microsoft.com/office/powerpoint/2010/main" val="121801950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A9F6D05-7F53-4780-A45A-F1E66E5B5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AE0E1E-02EB-49DE-B90B-73D46688E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5550"/>
            <a:ext cx="1219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E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B2F32D-EFFD-430A-AF5A-6FCB3F71B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D24D5E-E65F-47EE-9409-68E5CCCB6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4078"/>
                </a:solidFill>
              </a:defRPr>
            </a:pPr>
            <a:r>
              <a:rPr sz="975" b="1">
                <a:solidFill>
                  <a:srgbClr val="174078"/>
                </a:solidFill>
              </a:rPr>
              <a:t>EVIDENCE MODEL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671DE1-C2EE-4270-B00D-7945AC0AE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74078"/>
                </a:solidFill>
              </a:defRPr>
            </a:pPr>
            <a:r>
              <a:rPr sz="975" b="1">
                <a:solidFill>
                  <a:srgbClr val="174078"/>
                </a:solidFill>
              </a:rPr>
              <a:t>04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59ABBC-EC86-414A-B8CB-DBFC5B8E0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0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5B726B-E296-4C67-8B84-C76AC62FC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19050">
            <a:solidFill>
              <a:srgbClr val="14202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4B9DFC-2A41-49AC-9E91-388852895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61912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4202E"/>
                </a:solidFill>
              </a:defRPr>
            </a:pPr>
            <a:r>
              <a:rPr sz="3000" b="1">
                <a:solidFill>
                  <a:srgbClr val="14202E"/>
                </a:solidFill>
              </a:rPr>
              <a:t>Proof Is Public-Safe And Still Mapped To Operator Decisions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B650FE-4636-44CB-83AF-939D1533D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191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34155"/>
                </a:solidFill>
              </a:defRPr>
            </a:pPr>
            <a:r>
              <a:rPr sz="1425" b="0">
                <a:solidFill>
                  <a:srgbClr val="334155"/>
                </a:solidFill>
              </a:rPr>
              <a:t>Generated evidence panels replace environment-specific captures while the investigation logic remains intact.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85F917-E544-4E35-A08B-774CF2FC9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876300"/>
            <a:ext cx="3486150" cy="2533650"/>
          </a:xfrm>
          <a:prstGeom xmlns:a="http://schemas.openxmlformats.org/drawingml/2006/main" prst="roundRect">
            <a:avLst>
              <a:gd name="adj" fmla="val 30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eb4b7b47894588"/>
          <a:srcRect xmlns:a="http://schemas.openxmlformats.org/drawingml/2006/main" l="0" t="1111" r="0" b="11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0500" y="952500"/>
            <a:ext cx="3333750" cy="20955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105E9C-0DB6-4598-B752-4082F880B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333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34155"/>
                </a:solidFill>
              </a:defRPr>
            </a:pPr>
            <a:r>
              <a:rPr sz="900" b="1">
                <a:solidFill>
                  <a:srgbClr val="334155"/>
                </a:solidFill>
              </a:rPr>
              <a:t>EVIDENCE MODEL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8B748F-6119-4E03-8FA2-6FEB2E6A7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3D01A2-08C3-4FF7-A7A3-B4E1FAC01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Alert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D90D12-B173-48C8-A41B-295838B1A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8DD0D6-ABA0-49A7-87C0-2951842C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CD09C7-AC61-4FA5-999E-B7632C990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Evidence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9CC3B7-5A5B-4347-977C-B1A61F226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52D37C-DCED-41A7-9E8B-6D38BC1B9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622A54-134B-47A8-8292-D104DD862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Query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1BE054-7C18-41AA-8A17-35764822B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0B51BE-FDE6-44B8-B92E-97E676CA6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728B1C-3DA4-4DAC-9E80-2892D27FE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Blast radius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102B59F-AC50-4EED-A739-4EE1848C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2F25EF-D438-4AA9-9989-D7697D2D9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9456CF-24A6-4BA6-88CD-D7DE0FBC7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Action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EF80714-E8ED-4248-9EF3-0B43E03EC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81500"/>
            <a:ext cx="338455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B9A255D-409C-42B1-B007-C7274A3AF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81500"/>
            <a:ext cx="762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DF3F84D-48CA-4343-99E8-3C3A502C5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610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40B2670-1164-40E6-BAE7-202E5E5C6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86325"/>
            <a:ext cx="57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5792B76-89E1-4FE9-9597-E6D8572B3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4810125"/>
            <a:ext cx="57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8468B5-BFC3-496B-8BA1-1704DC27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43450"/>
            <a:ext cx="571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C6D031A-D2B9-4815-9451-085FDFAD2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910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078"/>
                </a:solidFill>
              </a:defRPr>
            </a:pPr>
            <a:r>
              <a:rPr sz="1125" b="1">
                <a:solidFill>
                  <a:srgbClr val="174078"/>
                </a:solidFill>
              </a:rPr>
              <a:t>Proof anchor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3C0D4D7-277F-4EDE-AE7E-B2545374A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29273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Each scenario has a visual artifact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that explains why the alert deserves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attention.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EFF4CF9-D482-4F22-9765-21892E8F4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381500"/>
            <a:ext cx="338455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6FC38A6-240B-4F79-A690-8F445DC0F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381500"/>
            <a:ext cx="762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E6ECE92-C34A-4DAA-B112-DEC8067C2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2800" y="4610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D95B914-753E-4FB3-B95B-3FADF566D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6625" y="4781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A061720-96D6-4472-A11C-8D887567B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8075" y="4867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BBB8ACA-E2A3-40D9-81C7-5F7C642AD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2350" y="4848225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0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BD7B860-6C1C-4177-A429-82CC2C93D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1450" y="45910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078"/>
                </a:solidFill>
              </a:defRPr>
            </a:pPr>
            <a:r>
              <a:rPr sz="1125" b="1">
                <a:solidFill>
                  <a:srgbClr val="174078"/>
                </a:solidFill>
              </a:rPr>
              <a:t>Query pivot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39C57CA-0FF3-4A63-A24B-8C53F73DB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850" y="5105400"/>
            <a:ext cx="29273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The query appendix shows how an analyst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would narrow the case from event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context to response action.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95CFABE-1A05-40EB-BA95-FBA884991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381500"/>
            <a:ext cx="338455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344810E-2820-4EBC-AFC4-854658466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381500"/>
            <a:ext cx="762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7773062-4948-4536-8C2E-388EBC5A8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950" y="4610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3749858-8273-425C-8141-AC1124F84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775" y="4752975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359A6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7815AFB-37E7-4EAF-93EF-EFD801ECC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7400" y="4838700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7791F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032D87C-AAD2-4295-863A-A275D2B12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5025" y="4924425"/>
            <a:ext cx="190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2413D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BD5B99C-A635-4FE2-867C-5CBA3B521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600" y="45910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078"/>
                </a:solidFill>
              </a:defRPr>
            </a:pPr>
            <a:r>
              <a:rPr sz="1125" b="1">
                <a:solidFill>
                  <a:srgbClr val="174078"/>
                </a:solidFill>
              </a:rPr>
              <a:t>Response packet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B24383D-7B49-4436-A817-863AD0D3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5105400"/>
            <a:ext cx="29273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Checklist, timeline, and escalation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outline make the handoff defensible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without private prep notes.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1122981-61D8-4012-B97D-C372519BE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Public-safe lab package: synthetic datasets, sanitized evidence visuals, and no private tenant details.</a:t>
            </a:r>
          </a:p>
        </p:txBody>
      </p:sp>
    </p:spTree>
    <p:extLst>
      <p:ext uri="{BB962C8B-B14F-4D97-AF65-F5344CB8AC3E}">
        <p14:creationId xmlns:p14="http://schemas.microsoft.com/office/powerpoint/2010/main" val="154234700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2E8C132-68FC-4587-846D-9311D0DA7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5E9E1C-925E-4AA6-8653-5E420D484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5550"/>
            <a:ext cx="1219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E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9F5966-B669-406D-A466-7679F863B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4BE2DA-247D-457C-97CF-31D58C34C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4078"/>
                </a:solidFill>
              </a:defRPr>
            </a:pPr>
            <a:r>
              <a:rPr sz="975" b="1">
                <a:solidFill>
                  <a:srgbClr val="174078"/>
                </a:solidFill>
              </a:rPr>
              <a:t>DETECTION ENGINEERING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B64213-1673-4D5A-BFD4-B6893A629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74078"/>
                </a:solidFill>
              </a:defRPr>
            </a:pPr>
            <a:r>
              <a:rPr sz="975" b="1">
                <a:solidFill>
                  <a:srgbClr val="174078"/>
                </a:solidFill>
              </a:rPr>
              <a:t>05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DBACE7-2F57-4AC6-9C22-E03C9952E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0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1970C7-7893-45E8-9D50-F2671CB40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19050">
            <a:solidFill>
              <a:srgbClr val="14202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5D68E5-A863-4F7C-9CF4-212D2767A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61912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4202E"/>
                </a:solidFill>
              </a:defRPr>
            </a:pPr>
            <a:r>
              <a:rPr sz="3000" b="1">
                <a:solidFill>
                  <a:srgbClr val="14202E"/>
                </a:solidFill>
              </a:rPr>
              <a:t>Each Scenario Follows The Same Analyst Pattern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2F3BBB-15F0-4115-9577-FD9BE105F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191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34155"/>
                </a:solidFill>
              </a:defRPr>
            </a:pPr>
            <a:r>
              <a:rPr sz="1425" b="0">
                <a:solidFill>
                  <a:srgbClr val="334155"/>
                </a:solidFill>
              </a:rPr>
              <a:t>A consistent trigger-to-response structure makes the walkthrough easy to audit and easy to defend.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CEE1F5-8FDE-4B19-987A-6DF276842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876300"/>
            <a:ext cx="3486150" cy="2533650"/>
          </a:xfrm>
          <a:prstGeom xmlns:a="http://schemas.openxmlformats.org/drawingml/2006/main" prst="roundRect">
            <a:avLst>
              <a:gd name="adj" fmla="val 30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a15f9ce3144cbc"/>
          <a:srcRect xmlns:a="http://schemas.openxmlformats.org/drawingml/2006/main" l="0" t="1111" r="0" b="11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0500" y="952500"/>
            <a:ext cx="3333750" cy="20955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4F0236-3F23-4A44-A5C4-76643E236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333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34155"/>
                </a:solidFill>
              </a:defRPr>
            </a:pPr>
            <a:r>
              <a:rPr sz="900" b="1">
                <a:solidFill>
                  <a:srgbClr val="334155"/>
                </a:solidFill>
              </a:rPr>
              <a:t>DETECTION ENGINEERING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1D50D5-4190-403B-A5B9-EE87B2FB1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19450"/>
            <a:ext cx="147637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34D271-59E3-4C69-BEA2-857787E31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81375"/>
            <a:ext cx="12858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Trigger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72DFA0-099D-439A-8316-ABFA00F40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066BED-5715-40B4-9406-65E3A82C2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3219450"/>
            <a:ext cx="147637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E55B67-58D7-4C63-BFF8-83A3E06E9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3381375"/>
            <a:ext cx="12858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Correlate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A84610-14B7-4A21-82B1-781BC5EF8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9F0349-D49D-4549-BD22-88852F415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219450"/>
            <a:ext cx="147637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C2F714-0E44-4A26-9B3D-A82FAF234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381375"/>
            <a:ext cx="12858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Materiality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5DF0F9-3E45-4A2E-A61B-93F2067B9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618C5B-A6AE-4079-BD3B-A10FB15CB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219450"/>
            <a:ext cx="147637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45BE67E-3DBB-44BF-A6E2-8A77117F6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381375"/>
            <a:ext cx="12858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Response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BED5DE1-832C-43A3-AF39-80F545C9A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81500"/>
            <a:ext cx="338455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3025B3-CCCE-4A93-9D2D-C27B58F4E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81500"/>
            <a:ext cx="762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6C27FD4-10AE-45E0-BC6D-3E76FE459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610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D17F60-A369-4D90-9CF4-FB217AE34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86325"/>
            <a:ext cx="57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70D3F6-6B4F-4D31-BBC4-C9C0465EB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4810125"/>
            <a:ext cx="57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7C4F4ED-D51F-4102-8FDB-8B9F56E12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43450"/>
            <a:ext cx="571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15E73EF-5585-41E9-AD8C-F4BD66E71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910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078"/>
                </a:solidFill>
              </a:defRPr>
            </a:pPr>
            <a:r>
              <a:rPr sz="1125" b="1">
                <a:solidFill>
                  <a:srgbClr val="174078"/>
                </a:solidFill>
              </a:rPr>
              <a:t>Trigger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C3C8DAB-2E6B-4C42-8778-7E1710AE2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29273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Start from a concrete security signal: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identity anomaly, API change, secret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read, process chain, or object access.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BD8C562-C3B8-48BC-BBA8-6D0266A0D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381500"/>
            <a:ext cx="338455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6CA119B-32EE-409F-98B9-E89887428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381500"/>
            <a:ext cx="762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10E52A4-B033-4184-A748-6F0252806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2800" y="4610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15C1FC5-D5C2-4BB4-9983-797B82196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6625" y="4781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3552AE3-EF06-4673-99C8-4D434E6A7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8075" y="4867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5CA53F8-D015-493C-B0DD-752367D86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2350" y="4848225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0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C444A11-A873-4E08-81CC-388E62427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1450" y="45910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078"/>
                </a:solidFill>
              </a:defRPr>
            </a:pPr>
            <a:r>
              <a:rPr sz="1125" b="1">
                <a:solidFill>
                  <a:srgbClr val="174078"/>
                </a:solidFill>
              </a:rPr>
              <a:t>Correlate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6375231-4AE1-47CC-9C11-CB2E61BA5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850" y="5105400"/>
            <a:ext cx="29273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Connect the first signal to material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follow-on behavior before escalating.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088F6D8-524F-4373-BB73-55D53B343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381500"/>
            <a:ext cx="338455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BA8D2C5-8B14-49BD-BDAA-83E6E6D83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381500"/>
            <a:ext cx="762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90CA041-B1AA-4573-B854-6DED673D3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950" y="4610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F3FD125-3A14-48FD-AA7A-EC58349A4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775" y="4752975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359A6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5649483-48FA-4D7B-A344-6A620772F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7400" y="4838700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7791F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669348C-6C50-472E-B5EA-B24CA1F8A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5025" y="4924425"/>
            <a:ext cx="190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2413D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7429DDD-2AA3-4D3E-9EEB-008D05D7B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600" y="45910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078"/>
                </a:solidFill>
              </a:defRPr>
            </a:pPr>
            <a:r>
              <a:rPr sz="1125" b="1">
                <a:solidFill>
                  <a:srgbClr val="174078"/>
                </a:solidFill>
              </a:rPr>
              <a:t>Respond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89BD1BB-84CB-4C54-BBB8-C57D052F1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5105400"/>
            <a:ext cx="29273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Choose containment, validation,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rotation, or escalation based on asset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and data impact.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66CD09E-B08C-46D1-AFDD-048E26852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Public-safe lab package: synthetic datasets, sanitized evidence visuals, and no private tenant details.</a:t>
            </a:r>
          </a:p>
        </p:txBody>
      </p:sp>
    </p:spTree>
    <p:extLst>
      <p:ext uri="{BB962C8B-B14F-4D97-AF65-F5344CB8AC3E}">
        <p14:creationId xmlns:p14="http://schemas.microsoft.com/office/powerpoint/2010/main" val="140273011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2A73D8E-20E9-4CF8-B142-832921C0A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DFCEBD-1558-4BD4-8953-5516ACD3A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5550"/>
            <a:ext cx="1219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E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37E260-F6D7-4D4E-A14C-3C4487854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D61E04-4885-4AD7-B958-A6409FA39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4078"/>
                </a:solidFill>
              </a:defRPr>
            </a:pPr>
            <a:r>
              <a:rPr sz="975" b="1">
                <a:solidFill>
                  <a:srgbClr val="174078"/>
                </a:solidFill>
              </a:rPr>
              <a:t>CLOUD SCENARIOS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235E2F-3B6F-4444-86D8-64E663157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74078"/>
                </a:solidFill>
              </a:defRPr>
            </a:pPr>
            <a:r>
              <a:rPr sz="975" b="1">
                <a:solidFill>
                  <a:srgbClr val="174078"/>
                </a:solidFill>
              </a:rPr>
              <a:t>06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7B07F3-0B79-49B2-8EBC-48DB0FA96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0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3F711D-7428-48BC-AEFF-7D9E84B30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19050">
            <a:solidFill>
              <a:srgbClr val="14202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136538-9CE2-405E-AE2C-E65132D8E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6667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4202E"/>
                </a:solidFill>
              </a:defRPr>
            </a:pPr>
            <a:r>
              <a:rPr sz="3000" b="1">
                <a:solidFill>
                  <a:srgbClr val="14202E"/>
                </a:solidFill>
              </a:rPr>
              <a:t>AWS Credential Misuse And S3 Access Show Cloud Materiality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EA2FB4-909F-4ADC-80AB-F3AA9E5FF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66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34155"/>
                </a:solidFill>
              </a:defRPr>
            </a:pPr>
            <a:r>
              <a:rPr sz="1425" b="0">
                <a:solidFill>
                  <a:srgbClr val="334155"/>
                </a:solidFill>
              </a:rPr>
              <a:t>Discovery becomes an incident when privilege, secrets, or sensitive objects enter the path.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F3163B-09ED-4FBF-A01F-068B2BAE3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876300"/>
            <a:ext cx="3486150" cy="2533650"/>
          </a:xfrm>
          <a:prstGeom xmlns:a="http://schemas.openxmlformats.org/drawingml/2006/main" prst="roundRect">
            <a:avLst>
              <a:gd name="adj" fmla="val 30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92d6ae81e64919"/>
          <a:srcRect xmlns:a="http://schemas.openxmlformats.org/drawingml/2006/main" l="0" t="1111" r="0" b="11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0500" y="952500"/>
            <a:ext cx="3333750" cy="20955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C4019B-DE51-4F76-B68C-AE91D1FF2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333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34155"/>
                </a:solidFill>
              </a:defRPr>
            </a:pPr>
            <a:r>
              <a:rPr sz="900" b="1">
                <a:solidFill>
                  <a:srgbClr val="334155"/>
                </a:solidFill>
              </a:rPr>
              <a:t>CLOUD SCENARIOS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D5AA90-487B-4117-A3DC-7E21C5D34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83DAE5-DB47-48D8-8DF8-B0D271C73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0CBCBA-BA5C-4E14-944C-F82AF4D93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02E"/>
                </a:solidFill>
              </a:defRPr>
            </a:pPr>
            <a:r>
              <a:rPr sz="2550" b="1">
                <a:solidFill>
                  <a:srgbClr val="14202E"/>
                </a:solidFill>
              </a:rPr>
              <a:t>IAM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9A163C-AE4B-4FE8-B406-C1E34F464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Privilege path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F7F6CC-5E4E-4D1D-B48C-763680A4B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First-seen credential plus policy-impacting API activity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E8CDE0-2628-48BA-9EFF-5096087CA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A40FFD-1130-4924-A79F-C774E5975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B2C770-DC2F-474B-8BDE-CA011631C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02E"/>
                </a:solidFill>
              </a:defRPr>
            </a:pPr>
            <a:r>
              <a:rPr sz="2550" b="1">
                <a:solidFill>
                  <a:srgbClr val="14202E"/>
                </a:solidFill>
              </a:rPr>
              <a:t>S3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25CEC1-1CBC-4B54-A14A-415239DF7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Data path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B90F54-FF7A-4E97-908E-6C2F771EF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Novel principal with sensitive object access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F17599-9C8A-4B3C-9C3C-E8F4EEA1D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B6712E-BEE0-465F-B77D-3EDBA1E6D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1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A7CA4A-2FF9-4598-99F4-ECD4CF26E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02E"/>
                </a:solidFill>
              </a:defRPr>
            </a:pPr>
            <a:r>
              <a:rPr sz="2550" b="1">
                <a:solidFill>
                  <a:srgbClr val="14202E"/>
                </a:solidFill>
              </a:rPr>
              <a:t>53s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DE27AD-473F-4DAB-AF5B-4E0A093A9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Detection target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CC19C1-5109-4B70-A9D5-8CD70731C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Fast signal review after high-confidence activity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3C6B028-ACC4-44AC-8759-782BFDCCC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Public-safe lab package: synthetic datasets, sanitized evidence visuals, and no private tenant details.</a:t>
            </a:r>
          </a:p>
        </p:txBody>
      </p:sp>
    </p:spTree>
    <p:extLst>
      <p:ext uri="{BB962C8B-B14F-4D97-AF65-F5344CB8AC3E}">
        <p14:creationId xmlns:p14="http://schemas.microsoft.com/office/powerpoint/2010/main" val="116286095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71A18F3-D373-44A5-B5BD-641056F61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95941C-2B7A-41BC-BFD1-767488B49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5550"/>
            <a:ext cx="1219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E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BF2506-1D82-4FBC-89E4-EF1E2BA2E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0642CB-A653-4C3E-806F-B2AE9D944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4078"/>
                </a:solidFill>
              </a:defRPr>
            </a:pPr>
            <a:r>
              <a:rPr sz="975" b="1">
                <a:solidFill>
                  <a:srgbClr val="174078"/>
                </a:solidFill>
              </a:rPr>
              <a:t>RUNTIME SCENARIO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786250-24DD-48E3-A5D8-E6A7DCA37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74078"/>
                </a:solidFill>
              </a:defRPr>
            </a:pPr>
            <a:r>
              <a:rPr sz="975" b="1">
                <a:solidFill>
                  <a:srgbClr val="174078"/>
                </a:solidFill>
              </a:rPr>
              <a:t>07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496FCB-7E22-436C-8AD2-275CE80CD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0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5284BC-E3DE-4ADE-ADB0-182DEAF5E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19050">
            <a:solidFill>
              <a:srgbClr val="14202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FB3139-C017-4A88-9B67-13820AA3B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61912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4202E"/>
                </a:solidFill>
              </a:defRPr>
            </a:pPr>
            <a:r>
              <a:rPr sz="3000" b="1">
                <a:solidFill>
                  <a:srgbClr val="14202E"/>
                </a:solidFill>
              </a:rPr>
              <a:t>EKS Secret Access Chain Turns Runtime Noise Into Impact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CDC542-D003-4AAB-AE31-252557619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191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34155"/>
                </a:solidFill>
              </a:defRPr>
            </a:pPr>
            <a:r>
              <a:rPr sz="1425" b="0">
                <a:solidFill>
                  <a:srgbClr val="334155"/>
                </a:solidFill>
              </a:rPr>
              <a:t>The important jump is from workload identity behavior into STS, secret retrieval, and KMS usage.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7A0415-716C-49CB-89B3-0939E85F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876300"/>
            <a:ext cx="3486150" cy="2533650"/>
          </a:xfrm>
          <a:prstGeom xmlns:a="http://schemas.openxmlformats.org/drawingml/2006/main" prst="roundRect">
            <a:avLst>
              <a:gd name="adj" fmla="val 30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332860fef8423d"/>
          <a:srcRect xmlns:a="http://schemas.openxmlformats.org/drawingml/2006/main" l="0" t="1111" r="0" b="11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0500" y="952500"/>
            <a:ext cx="3333750" cy="20955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D50EF9-5B22-4617-8127-6B4634E28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333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34155"/>
                </a:solidFill>
              </a:defRPr>
            </a:pPr>
            <a:r>
              <a:rPr sz="900" b="1">
                <a:solidFill>
                  <a:srgbClr val="334155"/>
                </a:solidFill>
              </a:rPr>
              <a:t>RUNTIME SCENARIO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91AC02-722E-493B-AA9E-340B0F4A1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361DEC-6BA7-4A07-A7BB-450F6F825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Pod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5F6336-433B-4CB7-89D4-4D0D9F661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FF4463-AFE3-4670-8EA4-0099E0C00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AF834B-F240-40D7-A2CD-C25483B54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Service account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4AF5DF-FDEA-4265-B897-74D504424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6A056F-6300-4A5D-99BB-DFB0A658D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CBE517-449D-4B60-871D-575826CF2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STS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02A014-C0C4-439F-A242-0AA5D9340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240E2E-FE42-440F-B19C-01A037040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5955BA-7C34-432A-AEC2-FE8B11215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Secret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7BBC03-9E08-497F-8F2F-E6DC404FC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5CAEA5-1D8F-4C37-AF1A-35863E417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092DF3-DEAA-4BF5-8CFC-67F3D4C7A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Rotate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F1DD259-C621-493C-8382-987EF5CD1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81500"/>
            <a:ext cx="338455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C371F45-D0FA-472E-99A0-66B1DAB21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81500"/>
            <a:ext cx="762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58C0CB8-E3AC-42D6-BC85-B80F5794D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610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A4BEDF2-25FD-4243-B0F3-36A315044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86325"/>
            <a:ext cx="57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BB27E0E-7AE4-41D9-AC19-E111B3F19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4810125"/>
            <a:ext cx="57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56F1192-CB19-429F-9E2C-423F61B63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43450"/>
            <a:ext cx="571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17E0FB5-090A-4FFC-932E-DE3FC8077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910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078"/>
                </a:solidFill>
              </a:defRPr>
            </a:pPr>
            <a:r>
              <a:rPr sz="1125" b="1">
                <a:solidFill>
                  <a:srgbClr val="174078"/>
                </a:solidFill>
              </a:rPr>
              <a:t>Workload identity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9BB15CA-E6BD-45D2-AC20-C72E823CB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29273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Unexpected service-account activity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creates the first runtime signal.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D282FA2-5B33-4356-9056-1A977AFC4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381500"/>
            <a:ext cx="338455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8F710D0-1632-4DF7-BE4C-5D0B4C3E0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381500"/>
            <a:ext cx="762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4DB5801-D66B-4D0B-A02F-D70309A88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2800" y="4610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56D0B2D-D8FB-4DF4-8902-FACB59F1D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6625" y="4781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810D891-7E21-4C34-8C1E-0ACC38FEA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8075" y="4867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8178B59-623D-434B-AA6A-13007C66E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2350" y="4848225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0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3623E2D-4268-4373-9733-6F3C5CB5D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1450" y="45910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078"/>
                </a:solidFill>
              </a:defRPr>
            </a:pPr>
            <a:r>
              <a:rPr sz="1125" b="1">
                <a:solidFill>
                  <a:srgbClr val="174078"/>
                </a:solidFill>
              </a:rPr>
              <a:t>Secret touch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7BCBDBE-1D51-4532-9078-4A3790742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850" y="5105400"/>
            <a:ext cx="29273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GetSecretValue or KMS decrypt makes the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case material.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E0C9DC8-E765-4332-9184-508B9F391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381500"/>
            <a:ext cx="338455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C591A2F-106C-448A-963E-C66E9F9B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381500"/>
            <a:ext cx="762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92084F7-5AF1-43A5-A4AF-312946975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950" y="4610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9914F65-57F7-4F67-A97D-0617EFD0E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775" y="4752975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359A6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B9941C6-5293-47E9-9EAF-3623DDE69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7400" y="4838700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7791F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C10B0A6-0909-46BB-9EE0-B23B115FD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5025" y="4924425"/>
            <a:ext cx="190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2413D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579FD8F-E729-453E-A48F-A0166CEEB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600" y="45910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078"/>
                </a:solidFill>
              </a:defRPr>
            </a:pPr>
            <a:r>
              <a:rPr sz="1125" b="1">
                <a:solidFill>
                  <a:srgbClr val="174078"/>
                </a:solidFill>
              </a:rPr>
              <a:t>Response bias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6FDD886-6B8A-40DA-B673-AAD2AA5DE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5105400"/>
            <a:ext cx="29273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Contain namespace or identity, preserve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workload evidence, and rotate touched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secrets.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B816755-74AD-4E41-8641-50388263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Public-safe lab package: synthetic datasets, sanitized evidence visuals, and no private tenant details.</a:t>
            </a:r>
          </a:p>
        </p:txBody>
      </p:sp>
    </p:spTree>
    <p:extLst>
      <p:ext uri="{BB962C8B-B14F-4D97-AF65-F5344CB8AC3E}">
        <p14:creationId xmlns:p14="http://schemas.microsoft.com/office/powerpoint/2010/main" val="202747593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CCB068A-33B7-43B6-BC8A-0F1F93010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FBD32A-5D0E-4542-9B0F-E1AD7104D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5550"/>
            <a:ext cx="1219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E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28FA2D-F871-4696-A080-CF1AB0CB9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07AD6C-A16C-475B-9075-FBEFCA92E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4078"/>
                </a:solidFill>
              </a:defRPr>
            </a:pPr>
            <a:r>
              <a:rPr sz="975" b="1">
                <a:solidFill>
                  <a:srgbClr val="174078"/>
                </a:solidFill>
              </a:rPr>
              <a:t>ENDPOINT TO DATA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5A6BCB-C299-4EA4-85C8-A3BCC789D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74078"/>
                </a:solidFill>
              </a:defRPr>
            </a:pPr>
            <a:r>
              <a:rPr sz="975" b="1">
                <a:solidFill>
                  <a:srgbClr val="174078"/>
                </a:solidFill>
              </a:rPr>
              <a:t>08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78B6E0-72F5-4D94-9279-1CE39FB51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0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317FE4-7F3F-469B-A2E5-0C06C098D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19050">
            <a:solidFill>
              <a:srgbClr val="14202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4C5ABC-EC2D-4F28-B0DD-8FD4F32EC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61912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4202E"/>
                </a:solidFill>
              </a:defRPr>
            </a:pPr>
            <a:r>
              <a:rPr sz="3000" b="1">
                <a:solidFill>
                  <a:srgbClr val="14202E"/>
                </a:solidFill>
              </a:rPr>
              <a:t>Endpoint-To-MongoDB Pivot Connects Host Evidence To Data Risk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C0560A-69E3-40D6-BD05-48613AA3A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191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34155"/>
                </a:solidFill>
              </a:defRPr>
            </a:pPr>
            <a:r>
              <a:rPr sz="1425" b="0">
                <a:solidFill>
                  <a:srgbClr val="334155"/>
                </a:solidFill>
              </a:rPr>
              <a:t>Process lineage becomes higher priority when it lines up with database authentication and collection access.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71977C-CFEA-4FAD-951C-2F29252D5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876300"/>
            <a:ext cx="3486150" cy="2533650"/>
          </a:xfrm>
          <a:prstGeom xmlns:a="http://schemas.openxmlformats.org/drawingml/2006/main" prst="roundRect">
            <a:avLst>
              <a:gd name="adj" fmla="val 30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bdc2d008c84227"/>
          <a:srcRect xmlns:a="http://schemas.openxmlformats.org/drawingml/2006/main" l="0" t="1111" r="0" b="11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0500" y="952500"/>
            <a:ext cx="3333750" cy="20955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E33880-43C1-449A-84B0-8DB335418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333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34155"/>
                </a:solidFill>
              </a:defRPr>
            </a:pPr>
            <a:r>
              <a:rPr sz="900" b="1">
                <a:solidFill>
                  <a:srgbClr val="334155"/>
                </a:solidFill>
              </a:rPr>
              <a:t>ENDPOINT TO DATA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5EC1A5-8EBC-4E8A-9432-B81639EE4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249FB8-B2F3-4158-9CA4-2776129E6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Execution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51C951-B849-4F23-B324-DCCACB989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4A40FE-6080-4135-9D35-626AF863E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B07D8E-2129-4F93-848B-AD9F2EA4D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Credential access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B1A655-7E26-4D54-81C1-9814BBA2D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CDD4B7-AD04-4A21-AE17-CF62A07BE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EF3D54-BCD5-4DD5-BAFA-7A7D44033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DB auth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68704B-4424-43D7-9C96-ECB51BD94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AAB2A0-AEE0-4363-8A65-AF3B0F42C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CB63955-C500-4E2A-8CDE-723908DB6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Collection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B142618-B3B7-48AE-A07A-65AEE993E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4B06984-0823-4616-944F-185196B96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836312-DF28-441C-AAB2-5132E2B87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Contain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EA7AAB-A861-4C18-978A-DAE9365A8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81500"/>
            <a:ext cx="338455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636FC0A-DC44-490F-96BD-D5973A0BE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81500"/>
            <a:ext cx="762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3D1E5C0-B03A-4383-9E20-56B6BDC26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610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38BC8C3-9EC1-45FE-BBFC-B07B7EB83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86325"/>
            <a:ext cx="57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20AA260-D74A-472E-85CA-4E9FDD7A3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4810125"/>
            <a:ext cx="57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CC56501-A784-46E0-B0E1-CB2018DF1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43450"/>
            <a:ext cx="571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85F3A82-F958-4155-ADF7-2E41AC792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910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078"/>
                </a:solidFill>
              </a:defRPr>
            </a:pPr>
            <a:r>
              <a:rPr sz="1125" b="1">
                <a:solidFill>
                  <a:srgbClr val="174078"/>
                </a:solidFill>
              </a:rPr>
              <a:t>Host signal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C8E8943-5E93-465D-9E97-0595934B0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29273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Suspicious process lineage gives the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first endpoint proof.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46F6E64-D9FE-4FD0-A0B7-3304C897D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381500"/>
            <a:ext cx="338455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38628A3-A123-45B1-AB66-67CEF9428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381500"/>
            <a:ext cx="762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7D22023-7A65-4C6F-90AD-8D8C42356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2800" y="4610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F07F9E8-33DC-4C2F-8C43-1FB708D74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6625" y="4781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1AED3D3-67E9-4351-8390-1DF07A920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8075" y="4867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BDD3C9C-C89A-417D-9B94-539AACB39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2350" y="4848225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0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2E61B2F-9C5E-4007-8E74-6C8F6BC9F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1450" y="45910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078"/>
                </a:solidFill>
              </a:defRPr>
            </a:pPr>
            <a:r>
              <a:rPr sz="1125" b="1">
                <a:solidFill>
                  <a:srgbClr val="174078"/>
                </a:solidFill>
              </a:rPr>
              <a:t>Database touch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E6DAFF4-B499-436F-995C-DEE4E2ED4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850" y="5105400"/>
            <a:ext cx="29273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MongoDB authentication and collection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access make the case data-facing.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65E376E-711E-4B63-9040-4BC68DD40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381500"/>
            <a:ext cx="338455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C307CC1-0533-47CE-A289-7ECAB23E8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381500"/>
            <a:ext cx="762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B252183-DF8A-4CA8-A4D6-E63CE8E0A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950" y="4610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EDF63B4-1F3A-4FB9-9252-C42C6CF1B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775" y="4752975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359A6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7589138-7CE5-4257-BDD7-EE0C0438E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7400" y="4838700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7791F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30817E7-5674-4603-A80C-74109C1D3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5025" y="4924425"/>
            <a:ext cx="190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2413D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84E4EC7-2278-43CD-B4C8-0FC85EF45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600" y="45910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078"/>
                </a:solidFill>
              </a:defRPr>
            </a:pPr>
            <a:r>
              <a:rPr sz="1125" b="1">
                <a:solidFill>
                  <a:srgbClr val="174078"/>
                </a:solidFill>
              </a:rPr>
              <a:t>Containment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AF9A982-8275-4D7D-9223-06A3CD0FA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5105400"/>
            <a:ext cx="29273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Preserve process lineage, contain the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host, and scope database reads.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BB88A81-58D4-44BB-AB4E-80194902E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Public-safe lab package: synthetic datasets, sanitized evidence visuals, and no private tenant details.</a:t>
            </a:r>
          </a:p>
        </p:txBody>
      </p:sp>
    </p:spTree>
    <p:extLst>
      <p:ext uri="{BB962C8B-B14F-4D97-AF65-F5344CB8AC3E}">
        <p14:creationId xmlns:p14="http://schemas.microsoft.com/office/powerpoint/2010/main" val="199895029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22533F0-2D7D-4A5D-B777-648E0763C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376A54-5DA6-4121-8622-5EE73DE53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5550"/>
            <a:ext cx="1219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E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2A777E-6F41-462F-8239-B26B5716E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2F7EEB-F570-4217-A4E8-D44698D5F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4078"/>
                </a:solidFill>
              </a:defRPr>
            </a:pPr>
            <a:r>
              <a:rPr sz="975" b="1">
                <a:solidFill>
                  <a:srgbClr val="174078"/>
                </a:solidFill>
              </a:rPr>
              <a:t>HARNESS AND DASHBOARD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AA4E85-22FB-47BC-B039-898CFADD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74078"/>
                </a:solidFill>
              </a:defRPr>
            </a:pPr>
            <a:r>
              <a:rPr sz="975" b="1">
                <a:solidFill>
                  <a:srgbClr val="174078"/>
                </a:solidFill>
              </a:rPr>
              <a:t>09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B9A4A6-0757-446C-926A-A00F51B31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0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1E0795-12A9-4E15-A727-7F68EAD0D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19050">
            <a:solidFill>
              <a:srgbClr val="14202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391553-F3BC-4472-9DB4-AD355EED1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6667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4202E"/>
                </a:solidFill>
              </a:defRPr>
            </a:pPr>
            <a:r>
              <a:rPr sz="3000" b="1">
                <a:solidFill>
                  <a:srgbClr val="14202E"/>
                </a:solidFill>
              </a:rPr>
              <a:t>The Demo Is Repeatable Because Replay Is Controlled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A0359E-7C76-4675-BA48-545008EA4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66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34155"/>
                </a:solidFill>
              </a:defRPr>
            </a:pPr>
            <a:r>
              <a:rPr sz="1425" b="0">
                <a:solidFill>
                  <a:srgbClr val="334155"/>
                </a:solidFill>
              </a:rPr>
              <a:t>The harness creates consistent validation data, while the dashboard keeps the review evidence-led.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5F204C-1085-4953-B17F-604697F30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876300"/>
            <a:ext cx="3486150" cy="2533650"/>
          </a:xfrm>
          <a:prstGeom xmlns:a="http://schemas.openxmlformats.org/drawingml/2006/main" prst="roundRect">
            <a:avLst>
              <a:gd name="adj" fmla="val 30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60c1f2cf6e46d4"/>
          <a:srcRect xmlns:a="http://schemas.openxmlformats.org/drawingml/2006/main" l="0" t="1111" r="0" b="11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0500" y="952500"/>
            <a:ext cx="3333750" cy="20955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F8CF51-E4C2-47B8-8807-7D07B6C2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333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34155"/>
                </a:solidFill>
              </a:defRPr>
            </a:pPr>
            <a:r>
              <a:rPr sz="900" b="1">
                <a:solidFill>
                  <a:srgbClr val="334155"/>
                </a:solidFill>
              </a:rPr>
              <a:t>HARNESS AND DASHBOARD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9D436A-CE50-4C16-9DEF-8E9FE3EAB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DD707C-3197-4901-9BFF-88B72F194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6CD0B2-2B96-4CDF-9124-985C872EA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02E"/>
                </a:solidFill>
              </a:defRPr>
            </a:pPr>
            <a:r>
              <a:rPr sz="2550" b="1">
                <a:solidFill>
                  <a:srgbClr val="14202E"/>
                </a:solidFill>
              </a:rPr>
              <a:t>source:test-harness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1A5EA7-89B1-4B03-9403-103A28A41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Replay scope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CF3716-78E3-49CA-91CE-CD050DB35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Synthetic feed is visible and filterable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AA8908-FDD4-4C2B-931B-90E043C7B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D5A0EB-35A7-4A93-95FF-376E5EB81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6C01A9-FC78-4297-9277-968F9BA50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02E"/>
                </a:solidFill>
              </a:defRPr>
            </a:pPr>
            <a:r>
              <a:rPr sz="2550" b="1">
                <a:solidFill>
                  <a:srgbClr val="14202E"/>
                </a:solidFill>
              </a:rPr>
              <a:t>synthetic:true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F8BD2D-6F98-4D3F-A297-ABA3EC7F8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Integrity tag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694E81-9B72-447F-93F3-DF3F88E1B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Validation data is not confused with tenant telemetry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F22F39-7EB1-427A-9321-409A55A2B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1793915-DC12-4E17-847F-3A3734251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1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3AE1E5-8ADE-4285-933C-AA82B5719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02E"/>
                </a:solidFill>
              </a:defRPr>
            </a:pPr>
            <a:r>
              <a:rPr sz="2550" b="1">
                <a:solidFill>
                  <a:srgbClr val="14202E"/>
                </a:solidFill>
              </a:rPr>
              <a:t>5 stages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10EBE9-F66A-402E-AFCE-B2C0F2BF6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Dashboard flow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A017A6-E579-45A6-8E00-D0B25A75F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Scope, status, evidence, engineering, readiness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EA97B59-D36F-49C7-AAE8-9CB0270D1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Public-safe lab package: synthetic datasets, sanitized evidence visuals, and no private tenant details.</a:t>
            </a:r>
          </a:p>
        </p:txBody>
      </p:sp>
    </p:spTree>
    <p:extLst>
      <p:ext uri="{BB962C8B-B14F-4D97-AF65-F5344CB8AC3E}">
        <p14:creationId xmlns:p14="http://schemas.microsoft.com/office/powerpoint/2010/main" val="103249827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CB3FB9-95C5-43EC-9B8C-C1C805B90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6AD2BD-5EA0-459F-BF3B-34598800A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5550"/>
            <a:ext cx="1219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E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8E2E82-24E2-4275-A129-0B2992BB4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387C42-889B-4518-BED2-7700E1A81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4078"/>
                </a:solidFill>
              </a:defRPr>
            </a:pPr>
            <a:r>
              <a:rPr sz="975" b="1">
                <a:solidFill>
                  <a:srgbClr val="174078"/>
                </a:solidFill>
              </a:rPr>
              <a:t>READINESS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AEDE42-682C-4936-81A7-B618313E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74078"/>
                </a:solidFill>
              </a:defRPr>
            </a:pPr>
            <a:r>
              <a:rPr sz="975" b="1">
                <a:solidFill>
                  <a:srgbClr val="174078"/>
                </a:solidFill>
              </a:rPr>
              <a:t>10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52E59E-AB4F-4BD9-BDC9-7A4035B29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0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29B6DF-7B66-457B-BA99-EF3994DF6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19050">
            <a:solidFill>
              <a:srgbClr val="14202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455D4D-D069-4618-AF1A-619902D70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61912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4202E"/>
                </a:solidFill>
              </a:defRPr>
            </a:pPr>
            <a:r>
              <a:rPr sz="3000" b="1">
                <a:solidFill>
                  <a:srgbClr val="14202E"/>
                </a:solidFill>
              </a:rPr>
              <a:t>The Public Package Is Complete And Defensible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687790-603D-4BB1-8456-A1E72434B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191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34155"/>
                </a:solidFill>
              </a:defRPr>
            </a:pPr>
            <a:r>
              <a:rPr sz="1425" b="0">
                <a:solidFill>
                  <a:srgbClr val="334155"/>
                </a:solidFill>
              </a:rPr>
              <a:t>A reviewer can open the dashboard, follow the flowcharts, inspect evidence, understand the harness, and walk the scenarios.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268C73-C378-47CB-AD56-77DC9447D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876300"/>
            <a:ext cx="3486150" cy="2533650"/>
          </a:xfrm>
          <a:prstGeom xmlns:a="http://schemas.openxmlformats.org/drawingml/2006/main" prst="roundRect">
            <a:avLst>
              <a:gd name="adj" fmla="val 30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dba7b880c849d8"/>
          <a:srcRect xmlns:a="http://schemas.openxmlformats.org/drawingml/2006/main" l="0" t="1111" r="0" b="11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0500" y="952500"/>
            <a:ext cx="3333750" cy="20955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81210F-99DF-439B-8545-8000D631A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333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34155"/>
                </a:solidFill>
              </a:defRPr>
            </a:pPr>
            <a:r>
              <a:rPr sz="900" b="1">
                <a:solidFill>
                  <a:srgbClr val="334155"/>
                </a:solidFill>
              </a:rPr>
              <a:t>READINESS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C7D807-F369-407D-8B1D-0849004BE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8E33B7-6CF9-4902-B10D-5239BA219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Dashboard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4DD5CF-4744-45D6-BDBE-BB02CD41E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55E5D4-C438-4C6D-B0F2-022DE42CE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9E2BB8-5654-4533-AB63-F1AC73BA3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Evidence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F1364B-7822-4FFB-A072-9E70CE55F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9E0818-4EAC-44A0-91BF-662ED3E28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24D0AC-1F8A-4A6A-904E-0C16BA0D9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Scenarios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D3F5AF-C96E-4472-8402-94C01C385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E19BCC-2A5A-44B5-B6E6-C540333E0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D583C0-A810-434E-9520-9FBE6B4A5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Harness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3C5F06-D663-4FFD-A4F7-9200A2EC1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095E2B-F366-4A53-89D4-98042403C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379694-D030-46B0-8763-7274AF431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Closeout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69B6965-8642-40C8-B2EB-BCDA4D388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81500"/>
            <a:ext cx="338455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5BAB1F-5064-4499-BA1C-691811A87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81500"/>
            <a:ext cx="762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57801EA-EDD9-4CA3-886C-EEA72B53F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610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5B35CFE-BF8D-42F5-826A-5291B4A10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86325"/>
            <a:ext cx="57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9415DE3-C932-4576-847E-881A0DDFB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4810125"/>
            <a:ext cx="57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E118B72-11A4-4964-BD80-37D027670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43450"/>
            <a:ext cx="571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997D94B-DB79-410D-B259-3E7AD69AE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910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078"/>
                </a:solidFill>
              </a:defRPr>
            </a:pPr>
            <a:r>
              <a:rPr sz="1125" b="1">
                <a:solidFill>
                  <a:srgbClr val="174078"/>
                </a:solidFill>
              </a:rPr>
              <a:t>Complete package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9AFE5C9-0D26-4CBF-A81E-707131429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29273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Dashboard, datasets, harness, evidence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assets, flowcharts, query appendix, and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deck are aligned.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5D547BE-10F5-4249-8E34-4F57E9C81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381500"/>
            <a:ext cx="338455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20E0470-375C-456A-9760-EC119A8A7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381500"/>
            <a:ext cx="762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13022B6-C7C2-4444-96C9-04CB2D783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2800" y="4610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0849EB1-933C-4E82-95D0-C424BC884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6625" y="4781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4345390-AAFC-4B38-84E5-031E873B6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8075" y="4867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B79896A-5FCA-441A-9B60-CAAE9B42D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2350" y="4848225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0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AD2EF1B-C7DC-4C8D-BA92-14606D7EE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1450" y="45910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078"/>
                </a:solidFill>
              </a:defRPr>
            </a:pPr>
            <a:r>
              <a:rPr sz="1125" b="1">
                <a:solidFill>
                  <a:srgbClr val="174078"/>
                </a:solidFill>
              </a:rPr>
              <a:t>Public-safe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3FADED7-6C23-4CCD-9A71-1385767BB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850" y="5105400"/>
            <a:ext cx="29273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No company names or tenant identifiers,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no credentials or secret values,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and no environment-specific captures.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E96892E-D266-4636-A3B4-0D7E70977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381500"/>
            <a:ext cx="338455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9203222-03D6-4C6B-9508-EE1385B10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381500"/>
            <a:ext cx="762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4D77EC1-DD64-419D-B486-E281D60F5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950" y="4610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B714332-4E61-4E4A-933B-DAF3EC592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775" y="4752975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359A6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C57AB6F-9736-4CC1-ACB4-CB6852D4B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7400" y="4838700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7791F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13F773E-37C8-4998-A2CA-B3FEEFF8D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5025" y="4924425"/>
            <a:ext cx="190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2413D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B501119-90A1-450C-BF88-46DF3F3BF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600" y="45910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078"/>
                </a:solidFill>
              </a:defRPr>
            </a:pPr>
            <a:r>
              <a:rPr sz="1125" b="1">
                <a:solidFill>
                  <a:srgbClr val="174078"/>
                </a:solidFill>
              </a:rPr>
              <a:t>Demo-ready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E34C364-7AE8-429A-9960-CA0B8EB9D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5105400"/>
            <a:ext cx="29273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The walkthrough has clear truth rules,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backup visuals, and a repeatable run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order.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CFD7AA9-9D3F-411A-88AF-0DBCAD740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Public-safe lab package: synthetic datasets, sanitized evidence visuals, and no private tenant details.</a:t>
            </a:r>
          </a:p>
        </p:txBody>
      </p:sp>
    </p:spTree>
    <p:extLst>
      <p:ext uri="{BB962C8B-B14F-4D97-AF65-F5344CB8AC3E}">
        <p14:creationId xmlns:p14="http://schemas.microsoft.com/office/powerpoint/2010/main" val="28634872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2026-04-29T00:37:41.8760000Z</dcterms:created>
  <dcterms:modified xsi:type="dcterms:W3CDTF">2026-04-29T00:37:41.8760000Z</dcterms:modified>
</coreProperties>
</file>